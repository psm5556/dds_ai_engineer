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무게(g)</c:v>
                </c:pt>
              </c:strCache>
            </c:strRef>
          </c:tx>
          <c:spPr>
            <a:solidFill>
              <a:srgbClr val="0C7882"/>
            </a:solidFill>
            <a:effectLst/>
          </c:spPr>
          <c:invertIfNegative val="0"/>
          <c:dLbls>
            <c:numFmt formatCode="#,##0&quot; g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5232D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처음 설계</c:v>
                  </c:pt>
                  <c:pt idx="1">
                    <c:v>AI가 찾은 설계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1178</c:v>
                </c:pt>
                <c:pt idx="1">
                  <c:v>814</c:v>
                </c:pt>
              </c:numCache>
            </c:numRef>
          </c:val>
        </c:ser>
        <c:dLbls>
          <c:numFmt formatCode="#,##0&quot; g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5232D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5232D"/>
                </a:solidFill>
                <a:latin typeface="Malgun Gothic"/>
              </a:defRPr>
            </a:pPr>
            <a:endParaRPr lang="ko-KR" alt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7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ko-KR" alt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ko-KR" altLang="en-US"/>
              <a:t>7/23/19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Click to edit Master text styles</a:t>
            </a:r>
          </a:p>
          <a:p>
            <a:pPr lvl="1"/>
            <a:r>
              <a:rPr lang="ko-KR" altLang="en-US"/>
              <a:t>Second level</a:t>
            </a:r>
          </a:p>
          <a:p>
            <a:pPr lvl="2"/>
            <a:r>
              <a:rPr lang="ko-KR" altLang="en-US"/>
              <a:t>Third level</a:t>
            </a:r>
          </a:p>
          <a:p>
            <a:pPr lvl="3"/>
            <a:r>
              <a:rPr lang="ko-KR" altLang="en-US"/>
              <a:t>Fourth level</a:t>
            </a:r>
          </a:p>
          <a:p>
            <a:pPr lvl="4"/>
            <a:r>
              <a:rPr lang="ko-KR" alt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ko-KR" altLang="en-US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시스템을 한 문장으로 말씀드리면, 엔지니어가 말로 부탁하면 AI 조수가 설계 프로그램을 대신 움직여 실험하고 가장 좋은 답을 찾아 주는 도우미입니다. 주황색은 사람이 하는 일, 청록색은 AI가 하는 일입니다. 사람은 부탁하고 확인만 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지금은 설계를 하나 바꿀 때마다 사람이 이 다섯 단계를 손으로 돌립니다. 한 바퀴에 반나절에서 며칠이 걸리니 설계안을 몇 개밖에 비교하지 못하고, 자동화하려면 스크립트를 짤 줄 알아야 해서 소수 전문가만 할 수 있습니다. 결과도 개인 PC에 흩어져 다시 쓰기 어렵습니다.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식당에 비유하면 쉽습니다. 손님은 주문만 하고, 매니저가 주문서를 확인한 뒤 주방을 움직입니다. 우리 시스템에서 손님은 엔지니어, 매니저는 AI 조수, 주방은 회사의 설계·해석 프로그램입니다. 레시피 노트처럼 결과가 쌓여서 다음에는 계산하지 않고도 답을 미리 맞힙니다.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일의 순서는 여섯 단계입니다. 사람은 1단계에서 말로 부탁하고, 2단계에서 계획표를 보고 OK를 누르고, 6단계에서 결과를 보고 결정합니다. 그 사이의 모양 만들기, 계산, 수십 번의 실험, 결과 공부, 보고서 작성은 AI 조수가 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실제 사례입니다. 벽에 붙어 끝에 200kg 정도를 버티는 금속 받침대를 더 가볍게 만들어 달라고 말로 부탁했습니다. AI 조수가 8단계 계획을 보여 주었고, 승인하자 3D 모양을 만들고, 두께와 리브 높이를 20가지로 바꿔 자동 계산하고, 결과를 공부한 뒤 최적 설계와 보고서를 만들었습니다. 사람이 한 일은 부탁 한 번과 승인 두 번이었습니다.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결과입니다. 처음 설계는 1,178g이었는데 AI가 찾은 설계는 814g으로 31% 가벼워졌고, 강도 기준 250MPa도 지켰습니다. 판은 얇게, 리브는 조금 높게 하는 조합인데 사람이 직관으로 정하기 어려운 것을 실험으로 찾은 것입니다. 이 숫자는 연습용 계산 모델로 돌린 데모 결과이고, 실제 회사 해석 프로그램으로 확인하는 일은 사내에서 진행합니다.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브래킷 말고도 이런 일을 말로 부탁할 수 있습니다. 충돌, 열, 빛, 사출 같은 분야의 회사 프로그램 29종을 다루도록 프로그램별 사용법을 AI 조수에게 미리 가르쳐 두었습니다.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정리하면, 지금은 스크립트를 짤 줄 아는 일부 전문가가 손으로 하던 일을, 앞으로는 설계 엔지니어 누구나 말로 부탁해서 할 수 있습니다. 실험은 수십 번, 밤에도 자동으로 돌고, 결과는 한 곳에 쌓여 다음 설계에 다시 쓰입니다.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안전장치입니다. AI가 혼자 결정하지 않습니다. 계획표를 사람이 승인해야 시작하고, 내 PC에서 프로그램을 실행하기 전에 한 번 더 묻습니다. 웹 화면, 회사 서버, 내 PC 도우미가 모두 사내망 안에 있고, 큰 원본 파일은 내 PC에, 결과는 회사 서버에 저장됩니다. AI와의 대화는 회사가 허용한 AI 계정으로만 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현재 위치입니다. 웹 화면, AI 조수, 설치 프로그램까지 만들기는 끝났습니다. 다음은 회사 서버에 설치하고, 라이선스가 있는 PC에서 실제 프로그램으로 작은 모델부터 확인하는 단계입니다. 집 PC에는 라이선스가 없어서 실제 프로그램과의 연결은 아직 확인하지 못했다는 점을 솔직하게 말씀드립니다.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시범 운영을 위해 세 가지를 부탁드립니다. 반복 해석이 많은 시범 팀 한두 곳, 실제 프로그램이 설치된 라이선스 PC를 쓸 시간, 그리고 사내 서버 한 대입니다. 정리하면, 말로 부탁하면 실험은 AI가 하고 판단은 사람이 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 alt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5" Type="http://schemas.openxmlformats.org/officeDocument/2006/relationships/image" Target="../media/image-6-4.png"/><Relationship Id="rId6" Type="http://schemas.openxmlformats.org/officeDocument/2006/relationships/image" Target="../media/image-6-5.png"/><Relationship Id="rId7" Type="http://schemas.openxmlformats.org/officeDocument/2006/relationships/image" Target="../media/image-6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spc="100" kern="0" dirty="0">
                <a:solidFill>
                  <a:srgbClr val="9DB0BA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DDS AI Engineer  ·  2026년 10월</a:t>
            </a:r>
            <a:endParaRPr lang="ko-KR" alt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말로 부탁하면, </a:t>
            </a:r>
            <a:pPr indent="0" marL="0">
              <a:lnSpc>
                <a:spcPct val="105000"/>
              </a:lnSpc>
              <a:buNone/>
            </a:pPr>
            <a:r>
              <a:rPr lang="ko-KR" altLang="en-US" sz="4400" b="1" dirty="0">
                <a:solidFill>
                  <a:srgbClr val="45BCC6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AI 조수</a:t>
            </a:r>
            <a:pPr indent="0" marL="0">
              <a:lnSpc>
                <a:spcPct val="105000"/>
              </a:lnSpc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가</a:t>
            </a:r>
            <a:endParaRPr lang="ko-KR" alt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설계 실험을 대신 해 줍니다</a:t>
            </a:r>
            <a:endParaRPr lang="ko-KR" alt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ko-KR" altLang="en-US" sz="1700" dirty="0">
                <a:solidFill>
                  <a:srgbClr val="C9D6D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엔지니어가 “이 부품을 더 가볍게 만들어 줘”라고 말하면, AI 조수가 회사 PC의 설계·해석 프로그램을 직접 움직여 여러 번 실험하고, 가장 좋은 설계와 보고서를 돌려줍니다.</a:t>
            </a:r>
            <a:endParaRPr lang="ko-KR" alt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52044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3A2516"/>
          </a:solidFill>
          <a:ln w="12700">
            <a:solidFill>
              <a:srgbClr val="3A25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520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29A5A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사람이 하는 일</a:t>
            </a:r>
            <a:endParaRPr lang="ko-KR" alt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38528" y="3520440"/>
            <a:ext cx="1559052" cy="274320"/>
          </a:xfrm>
          <a:prstGeom prst="roundRect">
            <a:avLst>
              <a:gd name="adj" fmla="val 50000"/>
            </a:avLst>
          </a:prstGeom>
          <a:solidFill>
            <a:srgbClr val="12333A"/>
          </a:solidFill>
          <a:ln w="12700">
            <a:solidFill>
              <a:srgbClr val="1233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38528" y="3520440"/>
            <a:ext cx="15590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45BCC6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AI 조수가 하는 일</a:t>
            </a:r>
            <a:endParaRPr lang="ko-KR" alt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4114800"/>
            <a:ext cx="2450592" cy="2194560"/>
          </a:xfrm>
          <a:prstGeom prst="roundRect">
            <a:avLst>
              <a:gd name="adj" fmla="val 5833"/>
            </a:avLst>
          </a:prstGeom>
          <a:solidFill>
            <a:srgbClr val="1E3240"/>
          </a:solidFill>
          <a:ln w="12700">
            <a:solidFill>
              <a:srgbClr val="2E47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4343400"/>
            <a:ext cx="658368" cy="658368"/>
          </a:xfrm>
          <a:prstGeom prst="ellipse">
            <a:avLst/>
          </a:prstGeom>
          <a:solidFill>
            <a:srgbClr val="3A2516"/>
          </a:solidFill>
          <a:ln w="12700">
            <a:solidFill>
              <a:srgbClr val="3A2516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521" y="4488241"/>
            <a:ext cx="368686" cy="36868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68680" y="5120640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말로 부탁</a:t>
            </a:r>
            <a:endParaRPr lang="ko-KR" alt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68680" y="5486400"/>
            <a:ext cx="20391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ko-KR" altLang="en-US" sz="1250" dirty="0">
                <a:solidFill>
                  <a:srgbClr val="B8C7CE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엔지니어가 평소 말로 요청합니다. 명령어를 몰라도 됩니다.</a:t>
            </a:r>
            <a:endParaRPr lang="ko-KR" alt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150108" y="5074920"/>
            <a:ext cx="310896" cy="274320"/>
          </a:xfrm>
          <a:prstGeom prst="rightArrow">
            <a:avLst/>
          </a:prstGeom>
          <a:solidFill>
            <a:srgbClr val="6E828D"/>
          </a:solidFill>
          <a:ln w="12700">
            <a:solidFill>
              <a:srgbClr val="6E828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20440" y="4114800"/>
            <a:ext cx="2450592" cy="2194560"/>
          </a:xfrm>
          <a:prstGeom prst="roundRect">
            <a:avLst>
              <a:gd name="adj" fmla="val 5833"/>
            </a:avLst>
          </a:prstGeom>
          <a:solidFill>
            <a:srgbClr val="1E3240"/>
          </a:solidFill>
          <a:ln w="12700">
            <a:solidFill>
              <a:srgbClr val="2E475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749040" y="4343400"/>
            <a:ext cx="658368" cy="658368"/>
          </a:xfrm>
          <a:prstGeom prst="ellipse">
            <a:avLst/>
          </a:prstGeom>
          <a:solidFill>
            <a:srgbClr val="12333A"/>
          </a:solidFill>
          <a:ln w="12700">
            <a:solidFill>
              <a:srgbClr val="12333A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3881" y="4488241"/>
            <a:ext cx="368686" cy="36868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749040" y="5120640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AI 조수가 계획</a:t>
            </a:r>
            <a:endParaRPr lang="ko-KR" alt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3749040" y="5486400"/>
            <a:ext cx="20391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ko-KR" altLang="en-US" sz="1250" dirty="0">
                <a:solidFill>
                  <a:srgbClr val="B8C7CE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할 일 순서를 그림으로 보여 주고, 사람이 OK하면 시작합니다.</a:t>
            </a:r>
            <a:endParaRPr lang="ko-KR" alt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030468" y="5074920"/>
            <a:ext cx="310896" cy="274320"/>
          </a:xfrm>
          <a:prstGeom prst="rightArrow">
            <a:avLst/>
          </a:prstGeom>
          <a:solidFill>
            <a:srgbClr val="6E828D"/>
          </a:solidFill>
          <a:ln w="12700">
            <a:solidFill>
              <a:srgbClr val="6E828D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400800" y="4114800"/>
            <a:ext cx="2450592" cy="2194560"/>
          </a:xfrm>
          <a:prstGeom prst="roundRect">
            <a:avLst>
              <a:gd name="adj" fmla="val 5833"/>
            </a:avLst>
          </a:prstGeom>
          <a:solidFill>
            <a:srgbClr val="1E3240"/>
          </a:solidFill>
          <a:ln w="12700">
            <a:solidFill>
              <a:srgbClr val="2E4756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629400" y="4343400"/>
            <a:ext cx="658368" cy="658368"/>
          </a:xfrm>
          <a:prstGeom prst="ellipse">
            <a:avLst/>
          </a:prstGeom>
          <a:solidFill>
            <a:srgbClr val="2A3F4D"/>
          </a:solidFill>
          <a:ln w="12700">
            <a:solidFill>
              <a:srgbClr val="2A3F4D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4241" y="4488241"/>
            <a:ext cx="368686" cy="36868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629400" y="5120640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프로그램이 계산</a:t>
            </a:r>
            <a:endParaRPr lang="ko-KR" alt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6629400" y="5486400"/>
            <a:ext cx="20391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ko-KR" altLang="en-US" sz="1250" dirty="0">
                <a:solidFill>
                  <a:srgbClr val="B8C7CE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회사가 이미 쓰는 설계 프로그램(NX, Abaqus 등)을 AI가 대신 조작합니다.</a:t>
            </a:r>
            <a:endParaRPr lang="ko-KR" alt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8910828" y="5074920"/>
            <a:ext cx="310896" cy="274320"/>
          </a:xfrm>
          <a:prstGeom prst="rightArrow">
            <a:avLst/>
          </a:prstGeom>
          <a:solidFill>
            <a:srgbClr val="6E828D"/>
          </a:solidFill>
          <a:ln w="12700">
            <a:solidFill>
              <a:srgbClr val="6E828D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9281160" y="4114800"/>
            <a:ext cx="2450592" cy="2194560"/>
          </a:xfrm>
          <a:prstGeom prst="roundRect">
            <a:avLst>
              <a:gd name="adj" fmla="val 5833"/>
            </a:avLst>
          </a:prstGeom>
          <a:solidFill>
            <a:srgbClr val="1E3240"/>
          </a:solidFill>
          <a:ln w="12700">
            <a:solidFill>
              <a:srgbClr val="2E4756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9509760" y="4343400"/>
            <a:ext cx="658368" cy="658368"/>
          </a:xfrm>
          <a:prstGeom prst="ellipse">
            <a:avLst/>
          </a:prstGeom>
          <a:solidFill>
            <a:srgbClr val="133426"/>
          </a:solidFill>
          <a:ln w="12700">
            <a:solidFill>
              <a:srgbClr val="133426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4601" y="4488241"/>
            <a:ext cx="368686" cy="36868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509760" y="5120640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가장 좋은 답</a:t>
            </a:r>
            <a:endParaRPr lang="ko-KR" altLang="en-US" sz="1700" dirty="0"/>
          </a:p>
        </p:txBody>
      </p:sp>
      <p:sp>
        <p:nvSpPr>
          <p:cNvPr id="31" name="Text 25"/>
          <p:cNvSpPr/>
          <p:nvPr/>
        </p:nvSpPr>
        <p:spPr>
          <a:xfrm>
            <a:off x="9509760" y="5486400"/>
            <a:ext cx="20391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ko-KR" altLang="en-US" sz="1250" dirty="0">
                <a:solidFill>
                  <a:srgbClr val="B8C7CE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최적 설계, 3D로 미리 보는 시뮬레이터, 보고서를 받습니다.</a:t>
            </a:r>
            <a:endParaRPr lang="ko-KR" alt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spc="100" kern="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1 · 지금은 무엇이 어려운가</a:t>
            </a:r>
            <a:endParaRPr lang="ko-KR" alt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0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설계 하나 바꿀 때마다, 사람이 이 바퀴를 손으로 돌립니다</a:t>
            </a:r>
            <a:endParaRPr lang="ko-KR" alt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27048" y="2487168"/>
            <a:ext cx="3255264" cy="3255264"/>
          </a:xfrm>
          <a:prstGeom prst="ellipse">
            <a:avLst/>
          </a:prstGeom>
          <a:ln w="203200">
            <a:solidFill>
              <a:srgbClr val="FCEA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0" y="2286000"/>
            <a:ext cx="173736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228600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D9671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① 모양 고치기</a:t>
            </a:r>
            <a:endParaRPr lang="ko-KR" altLang="en-US" sz="1300" dirty="0"/>
          </a:p>
        </p:txBody>
      </p:sp>
      <p:sp>
        <p:nvSpPr>
          <p:cNvPr id="7" name="Shape 5"/>
          <p:cNvSpPr/>
          <p:nvPr/>
        </p:nvSpPr>
        <p:spPr>
          <a:xfrm rot="7560000">
            <a:off x="3992506" y="2679146"/>
            <a:ext cx="237744" cy="237744"/>
          </a:xfrm>
          <a:prstGeom prst="triangle">
            <a:avLst/>
          </a:prstGeom>
          <a:solidFill>
            <a:srgbClr val="D9671F"/>
          </a:solidFill>
          <a:ln w="12700">
            <a:solidFill>
              <a:srgbClr val="D967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33970" y="3410666"/>
            <a:ext cx="173736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33970" y="341066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D9671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② 계산 준비</a:t>
            </a:r>
            <a:endParaRPr lang="ko-KR" altLang="en-US" sz="1300" dirty="0"/>
          </a:p>
        </p:txBody>
      </p:sp>
      <p:sp>
        <p:nvSpPr>
          <p:cNvPr id="10" name="Shape 8"/>
          <p:cNvSpPr/>
          <p:nvPr/>
        </p:nvSpPr>
        <p:spPr>
          <a:xfrm rot="11880000">
            <a:off x="4583778" y="4498894"/>
            <a:ext cx="237744" cy="237744"/>
          </a:xfrm>
          <a:prstGeom prst="triangle">
            <a:avLst/>
          </a:prstGeom>
          <a:solidFill>
            <a:srgbClr val="D9671F"/>
          </a:solidFill>
          <a:ln w="12700">
            <a:solidFill>
              <a:srgbClr val="D967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2698" y="5230414"/>
            <a:ext cx="173736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2698" y="523041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D9671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③ 몇 시간 기다리기</a:t>
            </a:r>
            <a:endParaRPr lang="ko-KR" altLang="en-US" sz="1300" dirty="0"/>
          </a:p>
        </p:txBody>
      </p:sp>
      <p:sp>
        <p:nvSpPr>
          <p:cNvPr id="13" name="Shape 11"/>
          <p:cNvSpPr/>
          <p:nvPr/>
        </p:nvSpPr>
        <p:spPr>
          <a:xfrm rot="16200000">
            <a:off x="3035808" y="5623560"/>
            <a:ext cx="237744" cy="237744"/>
          </a:xfrm>
          <a:prstGeom prst="triangle">
            <a:avLst/>
          </a:prstGeom>
          <a:solidFill>
            <a:srgbClr val="D9671F"/>
          </a:solidFill>
          <a:ln w="12700">
            <a:solidFill>
              <a:srgbClr val="D967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29302" y="5230414"/>
            <a:ext cx="173736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9302" y="523041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D9671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④ 결과 옮겨 적기</a:t>
            </a:r>
            <a:endParaRPr lang="ko-KR" altLang="en-US" sz="1300" dirty="0"/>
          </a:p>
        </p:txBody>
      </p:sp>
      <p:sp>
        <p:nvSpPr>
          <p:cNvPr id="16" name="Shape 14"/>
          <p:cNvSpPr/>
          <p:nvPr/>
        </p:nvSpPr>
        <p:spPr>
          <a:xfrm rot="20520000">
            <a:off x="1487838" y="4498894"/>
            <a:ext cx="237744" cy="237744"/>
          </a:xfrm>
          <a:prstGeom prst="triangle">
            <a:avLst/>
          </a:prstGeom>
          <a:solidFill>
            <a:srgbClr val="D9671F"/>
          </a:solidFill>
          <a:ln w="12700">
            <a:solidFill>
              <a:srgbClr val="D9671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8030" y="3410666"/>
            <a:ext cx="173736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8030" y="341066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D9671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⑤ 비교하고 다시</a:t>
            </a:r>
            <a:endParaRPr lang="ko-KR" altLang="en-US" sz="1300" dirty="0"/>
          </a:p>
        </p:txBody>
      </p:sp>
      <p:sp>
        <p:nvSpPr>
          <p:cNvPr id="19" name="Shape 17"/>
          <p:cNvSpPr/>
          <p:nvPr/>
        </p:nvSpPr>
        <p:spPr>
          <a:xfrm rot="3240000">
            <a:off x="2079110" y="2679146"/>
            <a:ext cx="237744" cy="237744"/>
          </a:xfrm>
          <a:prstGeom prst="triangle">
            <a:avLst/>
          </a:prstGeom>
          <a:solidFill>
            <a:srgbClr val="D9671F"/>
          </a:solidFill>
          <a:ln w="12700">
            <a:solidFill>
              <a:srgbClr val="D967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48840" y="3730752"/>
            <a:ext cx="2011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600" b="1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한 바퀴마다</a:t>
            </a:r>
            <a:endParaRPr lang="ko-KR" altLang="en-US" sz="1600" dirty="0"/>
          </a:p>
          <a:p>
            <a:pPr algn="ctr" indent="0" marL="0">
              <a:buNone/>
            </a:pPr>
            <a:r>
              <a:rPr lang="ko-KR" altLang="en-US" sz="1600" b="1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사람 손이 필요</a:t>
            </a:r>
            <a:endParaRPr lang="ko-KR" alt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2200" y="1828800"/>
            <a:ext cx="5470855" cy="1261872"/>
          </a:xfrm>
          <a:prstGeom prst="roundRect">
            <a:avLst>
              <a:gd name="adj" fmla="val 10145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46520" y="2103120"/>
            <a:ext cx="457200" cy="457200"/>
          </a:xfrm>
          <a:prstGeom prst="ellipse">
            <a:avLst/>
          </a:prstGeom>
          <a:solidFill>
            <a:srgbClr val="FCEADB"/>
          </a:solidFill>
          <a:ln w="12700">
            <a:solidFill>
              <a:srgbClr val="FCEA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600" b="1" dirty="0">
                <a:solidFill>
                  <a:srgbClr val="D9671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1</a:t>
            </a:r>
            <a:endParaRPr lang="ko-KR" alt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86600" y="2075688"/>
            <a:ext cx="4327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8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오래 걸려요</a:t>
            </a:r>
            <a:endParaRPr lang="ko-KR" alt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086600" y="2450592"/>
            <a:ext cx="4327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ko-KR" altLang="en-US" sz="13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한 바퀴에 반나절에서 며칠. 그래서 설계안을 몇 개밖에 못 비교합니다.</a:t>
            </a:r>
            <a:endParaRPr lang="ko-KR" alt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172200" y="3291840"/>
            <a:ext cx="5470855" cy="1261872"/>
          </a:xfrm>
          <a:prstGeom prst="roundRect">
            <a:avLst>
              <a:gd name="adj" fmla="val 10145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46520" y="3566160"/>
            <a:ext cx="457200" cy="457200"/>
          </a:xfrm>
          <a:prstGeom prst="ellipse">
            <a:avLst/>
          </a:prstGeom>
          <a:solidFill>
            <a:srgbClr val="FCEADB"/>
          </a:solidFill>
          <a:ln w="12700">
            <a:solidFill>
              <a:srgbClr val="FCEA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600" b="1" dirty="0">
                <a:solidFill>
                  <a:srgbClr val="D9671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2</a:t>
            </a:r>
            <a:endParaRPr lang="ko-KR" alt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86600" y="3538728"/>
            <a:ext cx="4327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8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할 줄 아는 사람이 적어요</a:t>
            </a:r>
            <a:endParaRPr lang="ko-KR" alt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086600" y="3913632"/>
            <a:ext cx="4327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ko-KR" altLang="en-US" sz="13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자동으로 돌리려면 컴퓨터 명령문(스크립트)을 짜야 해서, 일부 전문가만 할 수 있습니다.</a:t>
            </a:r>
            <a:endParaRPr lang="ko-KR" alt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172200" y="4754880"/>
            <a:ext cx="5470855" cy="1261872"/>
          </a:xfrm>
          <a:prstGeom prst="roundRect">
            <a:avLst>
              <a:gd name="adj" fmla="val 10145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46520" y="5029200"/>
            <a:ext cx="457200" cy="457200"/>
          </a:xfrm>
          <a:prstGeom prst="ellipse">
            <a:avLst/>
          </a:prstGeom>
          <a:solidFill>
            <a:srgbClr val="FCEADB"/>
          </a:solidFill>
          <a:ln w="12700">
            <a:solidFill>
              <a:srgbClr val="FCEA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600" b="1" dirty="0">
                <a:solidFill>
                  <a:srgbClr val="D9671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3</a:t>
            </a:r>
            <a:endParaRPr lang="ko-KR" alt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86600" y="5001768"/>
            <a:ext cx="4327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8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결과가 흩어져요</a:t>
            </a:r>
            <a:endParaRPr lang="ko-KR" alt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086600" y="5376672"/>
            <a:ext cx="4327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ko-KR" altLang="en-US" sz="13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계산 결과가 개인 PC와 엑셀에 흩어져, 다음 설계에 다시 쓰기 어렵습니다.</a:t>
            </a:r>
            <a:endParaRPr lang="ko-KR" alt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spc="100" kern="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2 · 쉽게 비유하면</a:t>
            </a:r>
            <a:endParaRPr lang="ko-KR" alt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0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식당과 똑같습니다</a:t>
            </a:r>
            <a:endParaRPr lang="ko-KR" alt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손님은 주문만 하면 됩니다. 요리 순서를 정하고 주방을 움직이는 일은 매니저가 합니다.</a:t>
            </a:r>
            <a:endParaRPr lang="ko-KR" alt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810512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식당에서는</a:t>
            </a:r>
            <a:endParaRPr lang="ko-KR" alt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9360" y="1810512"/>
            <a:ext cx="5333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우리 시스템에서는</a:t>
            </a:r>
            <a:endParaRPr lang="ko-KR" alt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25780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2258568"/>
            <a:ext cx="512064" cy="512064"/>
          </a:xfrm>
          <a:prstGeom prst="ellipse">
            <a:avLst/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886" y="2371222"/>
            <a:ext cx="286756" cy="2867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225856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5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손님이 주문</a:t>
            </a:r>
            <a:endParaRPr lang="ko-KR" alt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1417320" y="256032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“매콤한 걸로 주세요”</a:t>
            </a:r>
            <a:endParaRPr lang="ko-KR" alt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806440" y="214884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b="1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=</a:t>
            </a:r>
            <a:endParaRPr lang="ko-KR" alt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6309360" y="2148840"/>
            <a:ext cx="5333695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D9671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73952" y="2258568"/>
            <a:ext cx="512064" cy="512064"/>
          </a:xfrm>
          <a:prstGeom prst="ellipse">
            <a:avLst/>
          </a:prstGeom>
          <a:solidFill>
            <a:srgbClr val="FCEADB"/>
          </a:solidFill>
          <a:ln w="12700">
            <a:solidFill>
              <a:srgbClr val="FCEAD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6606" y="2371222"/>
            <a:ext cx="286756" cy="2867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78040" y="2258568"/>
            <a:ext cx="4327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5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엔지니어가 말로 부탁</a:t>
            </a:r>
            <a:endParaRPr lang="ko-KR" alt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7178040" y="2560320"/>
            <a:ext cx="4327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“더 가볍게, 강도는 그대로”</a:t>
            </a:r>
            <a:endParaRPr lang="ko-KR" alt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48640" y="2999232"/>
            <a:ext cx="525780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13232" y="3108960"/>
            <a:ext cx="512064" cy="512064"/>
          </a:xfrm>
          <a:prstGeom prst="ellipse">
            <a:avLst/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886" y="3221614"/>
            <a:ext cx="286756" cy="2867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17320" y="3108960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5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매니저가 주문서 확인</a:t>
            </a:r>
            <a:endParaRPr lang="ko-KR" alt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1417320" y="341071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“이 순서로 만들까요?”</a:t>
            </a:r>
            <a:endParaRPr lang="ko-KR" alt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5806440" y="2999232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b="1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=</a:t>
            </a:r>
            <a:endParaRPr lang="ko-KR" altLang="en-US" sz="2200" dirty="0"/>
          </a:p>
        </p:txBody>
      </p:sp>
      <p:sp>
        <p:nvSpPr>
          <p:cNvPr id="24" name="Shape 19"/>
          <p:cNvSpPr/>
          <p:nvPr/>
        </p:nvSpPr>
        <p:spPr>
          <a:xfrm>
            <a:off x="6309360" y="2999232"/>
            <a:ext cx="5333695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0C788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473952" y="3108960"/>
            <a:ext cx="512064" cy="512064"/>
          </a:xfrm>
          <a:prstGeom prst="ellipse">
            <a:avLst/>
          </a:prstGeom>
          <a:solidFill>
            <a:srgbClr val="DFF1F2"/>
          </a:solidFill>
          <a:ln w="12700">
            <a:solidFill>
              <a:srgbClr val="DFF1F2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6606" y="3221614"/>
            <a:ext cx="286756" cy="28675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178040" y="3108960"/>
            <a:ext cx="4327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5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AI 조수가 작업 계획표</a:t>
            </a:r>
            <a:endParaRPr lang="ko-KR" altLang="en-US" sz="1550" dirty="0"/>
          </a:p>
        </p:txBody>
      </p:sp>
      <p:sp>
        <p:nvSpPr>
          <p:cNvPr id="28" name="Text 22"/>
          <p:cNvSpPr/>
          <p:nvPr/>
        </p:nvSpPr>
        <p:spPr>
          <a:xfrm>
            <a:off x="7178040" y="3410712"/>
            <a:ext cx="4327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사람이 OK해야 시작</a:t>
            </a:r>
            <a:endParaRPr lang="ko-KR" alt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548640" y="3849624"/>
            <a:ext cx="525780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713232" y="3959352"/>
            <a:ext cx="512064" cy="512064"/>
          </a:xfrm>
          <a:prstGeom prst="ellipse">
            <a:avLst/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886" y="4072006"/>
            <a:ext cx="286756" cy="28675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417320" y="395935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5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주방에서 요리</a:t>
            </a:r>
            <a:endParaRPr lang="ko-KR" altLang="en-US" sz="1550" dirty="0"/>
          </a:p>
        </p:txBody>
      </p:sp>
      <p:sp>
        <p:nvSpPr>
          <p:cNvPr id="33" name="Text 26"/>
          <p:cNvSpPr/>
          <p:nvPr/>
        </p:nvSpPr>
        <p:spPr>
          <a:xfrm>
            <a:off x="1417320" y="4261104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여러 번 맛보며 간 맞추기</a:t>
            </a:r>
            <a:endParaRPr lang="ko-KR" alt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5806440" y="3849624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b="1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=</a:t>
            </a:r>
            <a:endParaRPr lang="ko-KR" altLang="en-US" sz="2200" dirty="0"/>
          </a:p>
        </p:txBody>
      </p:sp>
      <p:sp>
        <p:nvSpPr>
          <p:cNvPr id="35" name="Shape 28"/>
          <p:cNvSpPr/>
          <p:nvPr/>
        </p:nvSpPr>
        <p:spPr>
          <a:xfrm>
            <a:off x="6309360" y="3849624"/>
            <a:ext cx="5333695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0C7882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6473952" y="3959352"/>
            <a:ext cx="512064" cy="512064"/>
          </a:xfrm>
          <a:prstGeom prst="ellipse">
            <a:avLst/>
          </a:prstGeom>
          <a:solidFill>
            <a:srgbClr val="DFF1F2"/>
          </a:solidFill>
          <a:ln w="12700">
            <a:solidFill>
              <a:srgbClr val="DFF1F2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6606" y="4072006"/>
            <a:ext cx="286756" cy="286756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178040" y="3959352"/>
            <a:ext cx="4327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5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설계 프로그램이 계산</a:t>
            </a:r>
            <a:endParaRPr lang="ko-KR" altLang="en-US" sz="1550" dirty="0"/>
          </a:p>
        </p:txBody>
      </p:sp>
      <p:sp>
        <p:nvSpPr>
          <p:cNvPr id="39" name="Text 31"/>
          <p:cNvSpPr/>
          <p:nvPr/>
        </p:nvSpPr>
        <p:spPr>
          <a:xfrm>
            <a:off x="7178040" y="4261104"/>
            <a:ext cx="4327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모양을 바꿔 가며 수십 번</a:t>
            </a:r>
            <a:endParaRPr lang="ko-KR" altLang="en-US" sz="1250" dirty="0"/>
          </a:p>
        </p:txBody>
      </p:sp>
      <p:sp>
        <p:nvSpPr>
          <p:cNvPr id="40" name="Shape 32"/>
          <p:cNvSpPr/>
          <p:nvPr/>
        </p:nvSpPr>
        <p:spPr>
          <a:xfrm>
            <a:off x="548640" y="4700016"/>
            <a:ext cx="525780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713232" y="4809744"/>
            <a:ext cx="512064" cy="512064"/>
          </a:xfrm>
          <a:prstGeom prst="ellipse">
            <a:avLst/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886" y="4922398"/>
            <a:ext cx="286756" cy="286756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1417320" y="4809744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5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레시피 노트에 기록</a:t>
            </a:r>
            <a:endParaRPr lang="ko-KR" altLang="en-US" sz="1550" dirty="0"/>
          </a:p>
        </p:txBody>
      </p:sp>
      <p:sp>
        <p:nvSpPr>
          <p:cNvPr id="44" name="Text 35"/>
          <p:cNvSpPr/>
          <p:nvPr/>
        </p:nvSpPr>
        <p:spPr>
          <a:xfrm>
            <a:off x="1417320" y="5111496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다음엔 맛을 미리 압니다</a:t>
            </a:r>
            <a:endParaRPr lang="ko-KR" altLang="en-US" sz="1250" dirty="0"/>
          </a:p>
        </p:txBody>
      </p:sp>
      <p:sp>
        <p:nvSpPr>
          <p:cNvPr id="45" name="Text 36"/>
          <p:cNvSpPr/>
          <p:nvPr/>
        </p:nvSpPr>
        <p:spPr>
          <a:xfrm>
            <a:off x="5806440" y="4700016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b="1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=</a:t>
            </a:r>
            <a:endParaRPr lang="ko-KR" altLang="en-US" sz="2200" dirty="0"/>
          </a:p>
        </p:txBody>
      </p:sp>
      <p:sp>
        <p:nvSpPr>
          <p:cNvPr id="46" name="Shape 37"/>
          <p:cNvSpPr/>
          <p:nvPr/>
        </p:nvSpPr>
        <p:spPr>
          <a:xfrm>
            <a:off x="6309360" y="4700016"/>
            <a:ext cx="5333695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0C7882"/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6473952" y="4809744"/>
            <a:ext cx="512064" cy="512064"/>
          </a:xfrm>
          <a:prstGeom prst="ellipse">
            <a:avLst/>
          </a:prstGeom>
          <a:solidFill>
            <a:srgbClr val="DFF1F2"/>
          </a:solidFill>
          <a:ln w="12700">
            <a:solidFill>
              <a:srgbClr val="DFF1F2"/>
            </a:solidFill>
            <a:prstDash val="solid"/>
          </a:ln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6606" y="4922398"/>
            <a:ext cx="286756" cy="286756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7178040" y="4809744"/>
            <a:ext cx="4327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5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AI가 결과를 공부</a:t>
            </a:r>
            <a:endParaRPr lang="ko-KR" altLang="en-US" sz="1550" dirty="0"/>
          </a:p>
        </p:txBody>
      </p:sp>
      <p:sp>
        <p:nvSpPr>
          <p:cNvPr id="50" name="Text 40"/>
          <p:cNvSpPr/>
          <p:nvPr/>
        </p:nvSpPr>
        <p:spPr>
          <a:xfrm>
            <a:off x="7178040" y="5111496"/>
            <a:ext cx="4327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계산 안 해도 답을 바로 예측</a:t>
            </a:r>
            <a:endParaRPr lang="ko-KR" altLang="en-US" sz="1250" dirty="0"/>
          </a:p>
        </p:txBody>
      </p:sp>
      <p:sp>
        <p:nvSpPr>
          <p:cNvPr id="51" name="Shape 41"/>
          <p:cNvSpPr/>
          <p:nvPr/>
        </p:nvSpPr>
        <p:spPr>
          <a:xfrm>
            <a:off x="548640" y="5550408"/>
            <a:ext cx="525780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52" name="Shape 42"/>
          <p:cNvSpPr/>
          <p:nvPr/>
        </p:nvSpPr>
        <p:spPr>
          <a:xfrm>
            <a:off x="713232" y="5660136"/>
            <a:ext cx="512064" cy="512064"/>
          </a:xfrm>
          <a:prstGeom prst="ellipse">
            <a:avLst/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pic>
        <p:nvPicPr>
          <p:cNvPr id="5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5886" y="5772790"/>
            <a:ext cx="286756" cy="286756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1417320" y="5660136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5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최고의 한 접시</a:t>
            </a:r>
            <a:endParaRPr lang="ko-KR" altLang="en-US" sz="1550" dirty="0"/>
          </a:p>
        </p:txBody>
      </p:sp>
      <p:sp>
        <p:nvSpPr>
          <p:cNvPr id="55" name="Text 44"/>
          <p:cNvSpPr/>
          <p:nvPr/>
        </p:nvSpPr>
        <p:spPr>
          <a:xfrm>
            <a:off x="1417320" y="596188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사진과 설명까지</a:t>
            </a:r>
            <a:endParaRPr lang="ko-KR" altLang="en-US" sz="1250" dirty="0"/>
          </a:p>
        </p:txBody>
      </p:sp>
      <p:sp>
        <p:nvSpPr>
          <p:cNvPr id="56" name="Text 45"/>
          <p:cNvSpPr/>
          <p:nvPr/>
        </p:nvSpPr>
        <p:spPr>
          <a:xfrm>
            <a:off x="5806440" y="5550408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b="1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=</a:t>
            </a:r>
            <a:endParaRPr lang="ko-KR" altLang="en-US" sz="2200" dirty="0"/>
          </a:p>
        </p:txBody>
      </p:sp>
      <p:sp>
        <p:nvSpPr>
          <p:cNvPr id="57" name="Shape 46"/>
          <p:cNvSpPr/>
          <p:nvPr/>
        </p:nvSpPr>
        <p:spPr>
          <a:xfrm>
            <a:off x="6309360" y="5550408"/>
            <a:ext cx="5333695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0C7882"/>
            </a:solidFill>
            <a:prstDash val="solid"/>
          </a:ln>
        </p:spPr>
      </p:sp>
      <p:sp>
        <p:nvSpPr>
          <p:cNvPr id="58" name="Shape 47"/>
          <p:cNvSpPr/>
          <p:nvPr/>
        </p:nvSpPr>
        <p:spPr>
          <a:xfrm>
            <a:off x="6473952" y="5660136"/>
            <a:ext cx="512064" cy="512064"/>
          </a:xfrm>
          <a:prstGeom prst="ellipse">
            <a:avLst/>
          </a:prstGeom>
          <a:solidFill>
            <a:srgbClr val="DFF1F2"/>
          </a:solidFill>
          <a:ln w="12700">
            <a:solidFill>
              <a:srgbClr val="DFF1F2"/>
            </a:solidFill>
            <a:prstDash val="solid"/>
          </a:ln>
        </p:spPr>
      </p:sp>
      <p:pic>
        <p:nvPicPr>
          <p:cNvPr id="5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6606" y="5772790"/>
            <a:ext cx="286756" cy="286756"/>
          </a:xfrm>
          <a:prstGeom prst="rect">
            <a:avLst/>
          </a:prstGeom>
        </p:spPr>
      </p:pic>
      <p:sp>
        <p:nvSpPr>
          <p:cNvPr id="60" name="Text 48"/>
          <p:cNvSpPr/>
          <p:nvPr/>
        </p:nvSpPr>
        <p:spPr>
          <a:xfrm>
            <a:off x="7178040" y="5660136"/>
            <a:ext cx="4327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5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최적 설계와 보고서</a:t>
            </a:r>
            <a:endParaRPr lang="ko-KR" altLang="en-US" sz="1550" dirty="0"/>
          </a:p>
        </p:txBody>
      </p:sp>
      <p:sp>
        <p:nvSpPr>
          <p:cNvPr id="61" name="Text 49"/>
          <p:cNvSpPr/>
          <p:nvPr/>
        </p:nvSpPr>
        <p:spPr>
          <a:xfrm>
            <a:off x="7178040" y="5961888"/>
            <a:ext cx="4327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3D로 보고, 팀과 공유</a:t>
            </a:r>
            <a:endParaRPr lang="ko-KR" alt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spc="100" kern="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3 · 한눈에 보는 일의 순서</a:t>
            </a:r>
            <a:endParaRPr lang="ko-KR" alt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0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사람은 부탁하고 확인만, 나머지는 AI 조수가</a:t>
            </a:r>
            <a:endParaRPr lang="ko-KR" alt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15258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83664"/>
            <a:ext cx="585216" cy="585216"/>
          </a:xfrm>
          <a:prstGeom prst="roundRect">
            <a:avLst>
              <a:gd name="adj" fmla="val 18750"/>
            </a:avLst>
          </a:prstGeom>
          <a:solidFill>
            <a:srgbClr val="FCEADB"/>
          </a:solidFill>
          <a:ln w="12700">
            <a:solidFill>
              <a:srgbClr val="FCEAD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15" y="2000707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195218" y="175564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4000" b="1" dirty="0">
                <a:solidFill>
                  <a:srgbClr val="E1E8EB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1</a:t>
            </a:r>
            <a:endParaRPr lang="ko-KR" alt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804672" y="2606040"/>
            <a:ext cx="448056" cy="274320"/>
          </a:xfrm>
          <a:prstGeom prst="roundRect">
            <a:avLst>
              <a:gd name="adj" fmla="val 50000"/>
            </a:avLst>
          </a:prstGeom>
          <a:solidFill>
            <a:srgbClr val="FCEADB"/>
          </a:solidFill>
          <a:ln w="12700">
            <a:solidFill>
              <a:srgbClr val="FCEA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2606040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D9671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사람</a:t>
            </a:r>
            <a:endParaRPr lang="ko-KR" alt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04672" y="2971800"/>
            <a:ext cx="30580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7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말로 부탁하기</a:t>
            </a:r>
            <a:endParaRPr lang="ko-KR" alt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04672" y="3328416"/>
            <a:ext cx="3003194" cy="365760"/>
          </a:xfrm>
          <a:prstGeom prst="roundRect">
            <a:avLst>
              <a:gd name="adj" fmla="val 20000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328416"/>
            <a:ext cx="28203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“무게를 줄여 줘. 강도는 지키고.”</a:t>
            </a:r>
            <a:endParaRPr lang="ko-KR" alt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100474" y="2665476"/>
            <a:ext cx="201168" cy="201168"/>
          </a:xfrm>
          <a:prstGeom prst="rightArrow">
            <a:avLst/>
          </a:prstGeom>
          <a:solidFill>
            <a:srgbClr val="C3CFD5"/>
          </a:solidFill>
          <a:ln w="12700">
            <a:solidFill>
              <a:srgbClr val="C3CFD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38218" y="1645920"/>
            <a:ext cx="3515258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94250" y="1883664"/>
            <a:ext cx="585216" cy="585216"/>
          </a:xfrm>
          <a:prstGeom prst="roundRect">
            <a:avLst>
              <a:gd name="adj" fmla="val 18750"/>
            </a:avLst>
          </a:prstGeom>
          <a:solidFill>
            <a:srgbClr val="DFF1F2"/>
          </a:solidFill>
          <a:ln w="12700">
            <a:solidFill>
              <a:srgbClr val="DFF1F2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294" y="2000707"/>
            <a:ext cx="351130" cy="35113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984797" y="175564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4000" b="1" dirty="0">
                <a:solidFill>
                  <a:srgbClr val="E1E8EB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2</a:t>
            </a:r>
            <a:endParaRPr lang="ko-KR" altLang="en-US" sz="4000" dirty="0"/>
          </a:p>
        </p:txBody>
      </p:sp>
      <p:sp>
        <p:nvSpPr>
          <p:cNvPr id="18" name="Shape 14"/>
          <p:cNvSpPr/>
          <p:nvPr/>
        </p:nvSpPr>
        <p:spPr>
          <a:xfrm>
            <a:off x="4594250" y="2606040"/>
            <a:ext cx="818388" cy="274320"/>
          </a:xfrm>
          <a:prstGeom prst="roundRect">
            <a:avLst>
              <a:gd name="adj" fmla="val 50000"/>
            </a:avLst>
          </a:prstGeom>
          <a:solidFill>
            <a:srgbClr val="DFF1F2"/>
          </a:solidFill>
          <a:ln w="12700">
            <a:solidFill>
              <a:srgbClr val="DFF1F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594250" y="2606040"/>
            <a:ext cx="81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C7882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AI 조수</a:t>
            </a:r>
            <a:endParaRPr lang="ko-KR" alt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485790" y="2606040"/>
            <a:ext cx="941832" cy="274320"/>
          </a:xfrm>
          <a:prstGeom prst="roundRect">
            <a:avLst>
              <a:gd name="adj" fmla="val 50000"/>
            </a:avLst>
          </a:prstGeom>
          <a:solidFill>
            <a:srgbClr val="FCEADB"/>
          </a:solidFill>
          <a:ln w="12700">
            <a:solidFill>
              <a:srgbClr val="FCEAD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485790" y="260604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D9671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사람이 OK</a:t>
            </a:r>
            <a:endParaRPr lang="ko-KR" alt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594250" y="2971800"/>
            <a:ext cx="30580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7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계획표 보여 주기</a:t>
            </a:r>
            <a:endParaRPr lang="ko-KR" altLang="en-US" sz="1700" dirty="0"/>
          </a:p>
        </p:txBody>
      </p:sp>
      <p:sp>
        <p:nvSpPr>
          <p:cNvPr id="23" name="Text 19"/>
          <p:cNvSpPr/>
          <p:nvPr/>
        </p:nvSpPr>
        <p:spPr>
          <a:xfrm>
            <a:off x="4594250" y="3319272"/>
            <a:ext cx="30580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할 일 순서를 그림으로 보여 줍니다. 사람이 승인해야 다음으로 갑니다.</a:t>
            </a:r>
            <a:endParaRPr lang="ko-KR" alt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7890053" y="2665476"/>
            <a:ext cx="201168" cy="201168"/>
          </a:xfrm>
          <a:prstGeom prst="rightArrow">
            <a:avLst/>
          </a:prstGeom>
          <a:solidFill>
            <a:srgbClr val="C3CFD5"/>
          </a:solidFill>
          <a:ln w="12700">
            <a:solidFill>
              <a:srgbClr val="C3CFD5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127797" y="1645920"/>
            <a:ext cx="3515258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383829" y="1883664"/>
            <a:ext cx="585216" cy="585216"/>
          </a:xfrm>
          <a:prstGeom prst="roundRect">
            <a:avLst>
              <a:gd name="adj" fmla="val 18750"/>
            </a:avLst>
          </a:prstGeom>
          <a:solidFill>
            <a:srgbClr val="DFF1F2"/>
          </a:solidFill>
          <a:ln w="12700">
            <a:solidFill>
              <a:srgbClr val="DFF1F2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0872" y="2000707"/>
            <a:ext cx="351130" cy="35113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0774375" y="175564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4000" b="1" dirty="0">
                <a:solidFill>
                  <a:srgbClr val="E1E8EB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3</a:t>
            </a:r>
            <a:endParaRPr lang="ko-KR" altLang="en-US" sz="4000" dirty="0"/>
          </a:p>
        </p:txBody>
      </p:sp>
      <p:sp>
        <p:nvSpPr>
          <p:cNvPr id="29" name="Shape 24"/>
          <p:cNvSpPr/>
          <p:nvPr/>
        </p:nvSpPr>
        <p:spPr>
          <a:xfrm>
            <a:off x="8383829" y="2606040"/>
            <a:ext cx="818388" cy="274320"/>
          </a:xfrm>
          <a:prstGeom prst="roundRect">
            <a:avLst>
              <a:gd name="adj" fmla="val 50000"/>
            </a:avLst>
          </a:prstGeom>
          <a:solidFill>
            <a:srgbClr val="DFF1F2"/>
          </a:solidFill>
          <a:ln w="12700">
            <a:solidFill>
              <a:srgbClr val="DFF1F2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8383829" y="2606040"/>
            <a:ext cx="81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C7882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AI 조수</a:t>
            </a:r>
            <a:endParaRPr lang="ko-KR" alt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8383829" y="2971800"/>
            <a:ext cx="30580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7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모양 만들고 계산하기</a:t>
            </a:r>
            <a:endParaRPr lang="ko-KR" altLang="en-US" sz="1700" dirty="0"/>
          </a:p>
        </p:txBody>
      </p:sp>
      <p:sp>
        <p:nvSpPr>
          <p:cNvPr id="32" name="Text 27"/>
          <p:cNvSpPr/>
          <p:nvPr/>
        </p:nvSpPr>
        <p:spPr>
          <a:xfrm>
            <a:off x="8383829" y="3319272"/>
            <a:ext cx="30580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설계 프로그램(CAD)으로 모양을 만들고, 해석 프로그램(CAE)으로 힘을 계산합니다.</a:t>
            </a:r>
            <a:endParaRPr lang="ko-KR" alt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548640" y="4114800"/>
            <a:ext cx="3515258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804672" y="4352544"/>
            <a:ext cx="585216" cy="585216"/>
          </a:xfrm>
          <a:prstGeom prst="roundRect">
            <a:avLst>
              <a:gd name="adj" fmla="val 18750"/>
            </a:avLst>
          </a:prstGeom>
          <a:solidFill>
            <a:srgbClr val="DFF1F2"/>
          </a:solidFill>
          <a:ln w="12700">
            <a:solidFill>
              <a:srgbClr val="DFF1F2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715" y="4469587"/>
            <a:ext cx="351130" cy="35113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3195218" y="422452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4000" b="1" dirty="0">
                <a:solidFill>
                  <a:srgbClr val="E1E8EB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4</a:t>
            </a:r>
            <a:endParaRPr lang="ko-KR" altLang="en-US" sz="4000" dirty="0"/>
          </a:p>
        </p:txBody>
      </p:sp>
      <p:sp>
        <p:nvSpPr>
          <p:cNvPr id="37" name="Shape 31"/>
          <p:cNvSpPr/>
          <p:nvPr/>
        </p:nvSpPr>
        <p:spPr>
          <a:xfrm>
            <a:off x="804672" y="5074920"/>
            <a:ext cx="818388" cy="274320"/>
          </a:xfrm>
          <a:prstGeom prst="roundRect">
            <a:avLst>
              <a:gd name="adj" fmla="val 50000"/>
            </a:avLst>
          </a:prstGeom>
          <a:solidFill>
            <a:srgbClr val="DFF1F2"/>
          </a:solidFill>
          <a:ln w="12700">
            <a:solidFill>
              <a:srgbClr val="DFF1F2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804672" y="5074920"/>
            <a:ext cx="81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C7882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AI 조수</a:t>
            </a:r>
            <a:endParaRPr lang="ko-KR" alt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804672" y="5440680"/>
            <a:ext cx="30580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7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여러 번 바꿔 보며 실험</a:t>
            </a:r>
            <a:endParaRPr lang="ko-KR" altLang="en-US" sz="1700" dirty="0"/>
          </a:p>
        </p:txBody>
      </p:sp>
      <p:sp>
        <p:nvSpPr>
          <p:cNvPr id="40" name="Text 34"/>
          <p:cNvSpPr/>
          <p:nvPr/>
        </p:nvSpPr>
        <p:spPr>
          <a:xfrm>
            <a:off x="804672" y="5788152"/>
            <a:ext cx="30580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두께·높이를 골고루 바꿔 수십 번 자동으로 계산합니다. 밤에도 돕니다.</a:t>
            </a:r>
            <a:endParaRPr lang="ko-KR" altLang="en-US" sz="1200" dirty="0"/>
          </a:p>
        </p:txBody>
      </p:sp>
      <p:sp>
        <p:nvSpPr>
          <p:cNvPr id="41" name="Shape 35"/>
          <p:cNvSpPr/>
          <p:nvPr/>
        </p:nvSpPr>
        <p:spPr>
          <a:xfrm>
            <a:off x="4100474" y="5134356"/>
            <a:ext cx="201168" cy="201168"/>
          </a:xfrm>
          <a:prstGeom prst="rightArrow">
            <a:avLst/>
          </a:prstGeom>
          <a:solidFill>
            <a:srgbClr val="C3CFD5"/>
          </a:solidFill>
          <a:ln w="12700">
            <a:solidFill>
              <a:srgbClr val="C3CFD5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4338218" y="4114800"/>
            <a:ext cx="3515258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43" name="Shape 37"/>
          <p:cNvSpPr/>
          <p:nvPr/>
        </p:nvSpPr>
        <p:spPr>
          <a:xfrm>
            <a:off x="4594250" y="4352544"/>
            <a:ext cx="585216" cy="585216"/>
          </a:xfrm>
          <a:prstGeom prst="roundRect">
            <a:avLst>
              <a:gd name="adj" fmla="val 18750"/>
            </a:avLst>
          </a:prstGeom>
          <a:solidFill>
            <a:srgbClr val="DFF1F2"/>
          </a:solidFill>
          <a:ln w="12700">
            <a:solidFill>
              <a:srgbClr val="DFF1F2"/>
            </a:solidFill>
            <a:prstDash val="solid"/>
          </a:ln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1294" y="4469587"/>
            <a:ext cx="351130" cy="351130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6984797" y="422452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4000" b="1" dirty="0">
                <a:solidFill>
                  <a:srgbClr val="E1E8EB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5</a:t>
            </a:r>
            <a:endParaRPr lang="ko-KR" altLang="en-US" sz="4000" dirty="0"/>
          </a:p>
        </p:txBody>
      </p:sp>
      <p:sp>
        <p:nvSpPr>
          <p:cNvPr id="46" name="Shape 39"/>
          <p:cNvSpPr/>
          <p:nvPr/>
        </p:nvSpPr>
        <p:spPr>
          <a:xfrm>
            <a:off x="4594250" y="5074920"/>
            <a:ext cx="818388" cy="274320"/>
          </a:xfrm>
          <a:prstGeom prst="roundRect">
            <a:avLst>
              <a:gd name="adj" fmla="val 50000"/>
            </a:avLst>
          </a:prstGeom>
          <a:solidFill>
            <a:srgbClr val="DFF1F2"/>
          </a:solidFill>
          <a:ln w="12700">
            <a:solidFill>
              <a:srgbClr val="DFF1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4594250" y="5074920"/>
            <a:ext cx="81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C7882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AI 조수</a:t>
            </a:r>
            <a:endParaRPr lang="ko-KR" altLang="en-US" sz="1100" dirty="0"/>
          </a:p>
        </p:txBody>
      </p:sp>
      <p:sp>
        <p:nvSpPr>
          <p:cNvPr id="48" name="Text 41"/>
          <p:cNvSpPr/>
          <p:nvPr/>
        </p:nvSpPr>
        <p:spPr>
          <a:xfrm>
            <a:off x="4594250" y="5440680"/>
            <a:ext cx="30580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7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결과를 공부해 예측</a:t>
            </a:r>
            <a:endParaRPr lang="ko-KR" altLang="en-US" sz="1700" dirty="0"/>
          </a:p>
        </p:txBody>
      </p:sp>
      <p:sp>
        <p:nvSpPr>
          <p:cNvPr id="49" name="Text 42"/>
          <p:cNvSpPr/>
          <p:nvPr/>
        </p:nvSpPr>
        <p:spPr>
          <a:xfrm>
            <a:off x="4594250" y="5788152"/>
            <a:ext cx="30580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“이 치수면 이런 결과”를 배워, 계산하지 않아도 답을 바로 예측합니다.</a:t>
            </a:r>
            <a:endParaRPr lang="ko-KR" altLang="en-US" sz="1200" dirty="0"/>
          </a:p>
        </p:txBody>
      </p:sp>
      <p:sp>
        <p:nvSpPr>
          <p:cNvPr id="50" name="Shape 43"/>
          <p:cNvSpPr/>
          <p:nvPr/>
        </p:nvSpPr>
        <p:spPr>
          <a:xfrm>
            <a:off x="7890053" y="5134356"/>
            <a:ext cx="201168" cy="201168"/>
          </a:xfrm>
          <a:prstGeom prst="rightArrow">
            <a:avLst/>
          </a:prstGeom>
          <a:solidFill>
            <a:srgbClr val="C3CFD5"/>
          </a:solidFill>
          <a:ln w="12700">
            <a:solidFill>
              <a:srgbClr val="C3CFD5"/>
            </a:solidFill>
            <a:prstDash val="solid"/>
          </a:ln>
        </p:spPr>
      </p:sp>
      <p:sp>
        <p:nvSpPr>
          <p:cNvPr id="51" name="Shape 44"/>
          <p:cNvSpPr/>
          <p:nvPr/>
        </p:nvSpPr>
        <p:spPr>
          <a:xfrm>
            <a:off x="8127797" y="4114800"/>
            <a:ext cx="3515258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52" name="Shape 45"/>
          <p:cNvSpPr/>
          <p:nvPr/>
        </p:nvSpPr>
        <p:spPr>
          <a:xfrm>
            <a:off x="8383829" y="4352544"/>
            <a:ext cx="585216" cy="585216"/>
          </a:xfrm>
          <a:prstGeom prst="roundRect">
            <a:avLst>
              <a:gd name="adj" fmla="val 18750"/>
            </a:avLst>
          </a:prstGeom>
          <a:solidFill>
            <a:srgbClr val="DFF1F2"/>
          </a:solidFill>
          <a:ln w="12700">
            <a:solidFill>
              <a:srgbClr val="DFF1F2"/>
            </a:solidFill>
            <a:prstDash val="solid"/>
          </a:ln>
        </p:spPr>
      </p:sp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0872" y="4469587"/>
            <a:ext cx="351130" cy="351130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10774375" y="422452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4000" b="1" dirty="0">
                <a:solidFill>
                  <a:srgbClr val="E1E8EB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6</a:t>
            </a:r>
            <a:endParaRPr lang="ko-KR" altLang="en-US" sz="4000" dirty="0"/>
          </a:p>
        </p:txBody>
      </p:sp>
      <p:sp>
        <p:nvSpPr>
          <p:cNvPr id="55" name="Shape 47"/>
          <p:cNvSpPr/>
          <p:nvPr/>
        </p:nvSpPr>
        <p:spPr>
          <a:xfrm>
            <a:off x="8383829" y="5074920"/>
            <a:ext cx="818388" cy="274320"/>
          </a:xfrm>
          <a:prstGeom prst="roundRect">
            <a:avLst>
              <a:gd name="adj" fmla="val 50000"/>
            </a:avLst>
          </a:prstGeom>
          <a:solidFill>
            <a:srgbClr val="DFF1F2"/>
          </a:solidFill>
          <a:ln w="12700">
            <a:solidFill>
              <a:srgbClr val="DFF1F2"/>
            </a:solidFill>
            <a:prstDash val="solid"/>
          </a:ln>
        </p:spPr>
      </p:sp>
      <p:sp>
        <p:nvSpPr>
          <p:cNvPr id="56" name="Text 48"/>
          <p:cNvSpPr/>
          <p:nvPr/>
        </p:nvSpPr>
        <p:spPr>
          <a:xfrm>
            <a:off x="8383829" y="5074920"/>
            <a:ext cx="81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C7882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AI 조수</a:t>
            </a:r>
            <a:endParaRPr lang="ko-KR" altLang="en-US" sz="1100" dirty="0"/>
          </a:p>
        </p:txBody>
      </p:sp>
      <p:sp>
        <p:nvSpPr>
          <p:cNvPr id="57" name="Shape 49"/>
          <p:cNvSpPr/>
          <p:nvPr/>
        </p:nvSpPr>
        <p:spPr>
          <a:xfrm>
            <a:off x="9275369" y="5074920"/>
            <a:ext cx="941832" cy="274320"/>
          </a:xfrm>
          <a:prstGeom prst="roundRect">
            <a:avLst>
              <a:gd name="adj" fmla="val 50000"/>
            </a:avLst>
          </a:prstGeom>
          <a:solidFill>
            <a:srgbClr val="FCEADB"/>
          </a:solidFill>
          <a:ln w="12700">
            <a:solidFill>
              <a:srgbClr val="FCEADB"/>
            </a:solidFill>
            <a:prstDash val="solid"/>
          </a:ln>
        </p:spPr>
      </p:sp>
      <p:sp>
        <p:nvSpPr>
          <p:cNvPr id="58" name="Text 50"/>
          <p:cNvSpPr/>
          <p:nvPr/>
        </p:nvSpPr>
        <p:spPr>
          <a:xfrm>
            <a:off x="9275369" y="507492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D9671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사람이 결정</a:t>
            </a:r>
            <a:endParaRPr lang="ko-KR" altLang="en-US" sz="1100" dirty="0"/>
          </a:p>
        </p:txBody>
      </p:sp>
      <p:sp>
        <p:nvSpPr>
          <p:cNvPr id="59" name="Text 51"/>
          <p:cNvSpPr/>
          <p:nvPr/>
        </p:nvSpPr>
        <p:spPr>
          <a:xfrm>
            <a:off x="8383829" y="5440680"/>
            <a:ext cx="30580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7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최고의 답과 보고서</a:t>
            </a:r>
            <a:endParaRPr lang="ko-KR" altLang="en-US" sz="1700" dirty="0"/>
          </a:p>
        </p:txBody>
      </p:sp>
      <p:sp>
        <p:nvSpPr>
          <p:cNvPr id="60" name="Text 52"/>
          <p:cNvSpPr/>
          <p:nvPr/>
        </p:nvSpPr>
        <p:spPr>
          <a:xfrm>
            <a:off x="8383829" y="5788152"/>
            <a:ext cx="30580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최적 설계, 3D 시뮬레이터, 보고서를 받고 사람이 최종 결정합니다.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spc="100" kern="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4 · 실제로 돌려 본 사례</a:t>
            </a:r>
            <a:endParaRPr lang="ko-KR" alt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0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선반 받침대(브래킷)를 더 가볍게</a:t>
            </a:r>
            <a:endParaRPr lang="ko-KR" alt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벽에 붙어 끝에 2 kN(약 200 kg 무게)을 버티는 금속 받침대입니다. 이 시스템에 실제로 말을 걸어 끝까지 돌렸습니다.</a:t>
            </a:r>
            <a:endParaRPr lang="ko-KR" alt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94415" cy="914400"/>
          </a:xfrm>
          <a:prstGeom prst="roundRect">
            <a:avLst>
              <a:gd name="adj" fmla="val 18000"/>
            </a:avLst>
          </a:prstGeom>
          <a:solidFill>
            <a:srgbClr val="FCEADB"/>
          </a:solidFill>
          <a:ln w="12700">
            <a:solidFill>
              <a:srgbClr val="FCEA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984248"/>
            <a:ext cx="603504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579" y="2117019"/>
            <a:ext cx="337962" cy="3379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938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b="1" dirty="0">
                <a:solidFill>
                  <a:srgbClr val="D9671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엔지니어가 한 말</a:t>
            </a:r>
            <a:endParaRPr lang="ko-KR" alt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508760" y="2212848"/>
            <a:ext cx="9905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65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“브래킷 무게를 최대한 줄여 줘. 단, 힘을 받는 정도(응력)는 250 MPa를 넘으면 안 돼.”</a:t>
            </a:r>
            <a:endParaRPr lang="ko-KR" alt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548640" y="3017520"/>
            <a:ext cx="1911645" cy="2148840"/>
          </a:xfrm>
          <a:prstGeom prst="roundRect">
            <a:avLst>
              <a:gd name="adj" fmla="val 6697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31520" y="3200400"/>
            <a:ext cx="154588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0C7882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AI 조수 ①</a:t>
            </a:r>
            <a:endParaRPr lang="ko-KR" alt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3493008"/>
            <a:ext cx="15458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55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계획표 8단계 제안</a:t>
            </a:r>
            <a:endParaRPr lang="ko-KR" alt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731520" y="4087368"/>
            <a:ext cx="154588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0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모양 → 해석 준비 → 실험 → 공부 → 3D → 보고서. 엔지니어가 승인</a:t>
            </a:r>
            <a:endParaRPr lang="ko-KR" alt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496861" y="3954780"/>
            <a:ext cx="310896" cy="274320"/>
          </a:xfrm>
          <a:prstGeom prst="rightArrow">
            <a:avLst/>
          </a:prstGeom>
          <a:solidFill>
            <a:srgbClr val="0C7882"/>
          </a:solidFill>
          <a:ln w="12700">
            <a:solidFill>
              <a:srgbClr val="0C788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844333" y="3017520"/>
            <a:ext cx="1911645" cy="2148840"/>
          </a:xfrm>
          <a:prstGeom prst="roundRect">
            <a:avLst>
              <a:gd name="adj" fmla="val 6697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027213" y="3200400"/>
            <a:ext cx="154588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0C7882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AI 조수 ②</a:t>
            </a:r>
            <a:endParaRPr lang="ko-KR" alt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027213" y="3493008"/>
            <a:ext cx="15458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55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3D 모양 만들기</a:t>
            </a:r>
            <a:endParaRPr lang="ko-KR" alt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3027213" y="4087368"/>
            <a:ext cx="154588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0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판 두께와 갈비뼈(리브) 높이를 바꿀 수 있게 설계</a:t>
            </a:r>
            <a:endParaRPr lang="ko-KR" alt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792553" y="3954780"/>
            <a:ext cx="310896" cy="274320"/>
          </a:xfrm>
          <a:prstGeom prst="rightArrow">
            <a:avLst/>
          </a:prstGeom>
          <a:solidFill>
            <a:srgbClr val="0C7882"/>
          </a:solidFill>
          <a:ln w="12700">
            <a:solidFill>
              <a:srgbClr val="0C788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140025" y="3017520"/>
            <a:ext cx="1911645" cy="2148840"/>
          </a:xfrm>
          <a:prstGeom prst="roundRect">
            <a:avLst>
              <a:gd name="adj" fmla="val 6697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322905" y="3200400"/>
            <a:ext cx="154588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0C7882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AI 조수 ③</a:t>
            </a:r>
            <a:endParaRPr lang="ko-KR" alt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322905" y="3493008"/>
            <a:ext cx="15458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55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20가지 모양 자동 계산</a:t>
            </a:r>
            <a:endParaRPr lang="ko-KR" alt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5322905" y="4087368"/>
            <a:ext cx="154588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0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두께 6~14 mm, 리브 10~40 mm를 골고루. 실행 전 “내 PC에서 해도 될까요?” 확인</a:t>
            </a:r>
            <a:endParaRPr lang="ko-KR" alt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088246" y="3954780"/>
            <a:ext cx="310896" cy="274320"/>
          </a:xfrm>
          <a:prstGeom prst="rightArrow">
            <a:avLst/>
          </a:prstGeom>
          <a:solidFill>
            <a:srgbClr val="0C7882"/>
          </a:solidFill>
          <a:ln w="12700">
            <a:solidFill>
              <a:srgbClr val="0C788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435718" y="3017520"/>
            <a:ext cx="1911645" cy="2148840"/>
          </a:xfrm>
          <a:prstGeom prst="roundRect">
            <a:avLst>
              <a:gd name="adj" fmla="val 6697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7618598" y="3200400"/>
            <a:ext cx="154588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0C7882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AI 조수 ④</a:t>
            </a:r>
            <a:endParaRPr lang="ko-KR" alt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618598" y="3493008"/>
            <a:ext cx="15458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55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결과를 공부</a:t>
            </a:r>
            <a:endParaRPr lang="ko-KR" altLang="en-US" sz="1550" dirty="0"/>
          </a:p>
        </p:txBody>
      </p:sp>
      <p:sp>
        <p:nvSpPr>
          <p:cNvPr id="28" name="Text 25"/>
          <p:cNvSpPr/>
          <p:nvPr/>
        </p:nvSpPr>
        <p:spPr>
          <a:xfrm>
            <a:off x="7618598" y="4087368"/>
            <a:ext cx="154588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0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무게·응력을 바로 맞히는 예측 모델과 3D 응력 그림을 학습</a:t>
            </a:r>
            <a:endParaRPr lang="ko-KR" alt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9383939" y="3954780"/>
            <a:ext cx="310896" cy="274320"/>
          </a:xfrm>
          <a:prstGeom prst="rightArrow">
            <a:avLst/>
          </a:prstGeom>
          <a:solidFill>
            <a:srgbClr val="0C7882"/>
          </a:solidFill>
          <a:ln w="12700">
            <a:solidFill>
              <a:srgbClr val="0C788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731411" y="3017520"/>
            <a:ext cx="1911645" cy="2148840"/>
          </a:xfrm>
          <a:prstGeom prst="roundRect">
            <a:avLst>
              <a:gd name="adj" fmla="val 6697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9914291" y="3200400"/>
            <a:ext cx="154588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0C7882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AI 조수 ⑤</a:t>
            </a:r>
            <a:endParaRPr lang="ko-KR" alt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914291" y="3493008"/>
            <a:ext cx="15458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55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최적 설계 + 보고서</a:t>
            </a:r>
            <a:endParaRPr lang="ko-KR" altLang="en-US" sz="1550" dirty="0"/>
          </a:p>
        </p:txBody>
      </p:sp>
      <p:sp>
        <p:nvSpPr>
          <p:cNvPr id="33" name="Text 30"/>
          <p:cNvSpPr/>
          <p:nvPr/>
        </p:nvSpPr>
        <p:spPr>
          <a:xfrm>
            <a:off x="9914291" y="4087368"/>
            <a:ext cx="154588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0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3D 시뮬레이터 공개, Word 보고서 자동 작성</a:t>
            </a:r>
            <a:endParaRPr lang="ko-KR" alt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548640" y="5440680"/>
            <a:ext cx="11094415" cy="749808"/>
          </a:xfrm>
          <a:prstGeom prst="roundRect">
            <a:avLst>
              <a:gd name="adj" fmla="val 17073"/>
            </a:avLst>
          </a:prstGeom>
          <a:solidFill>
            <a:srgbClr val="DDF2E5"/>
          </a:solidFill>
          <a:ln w="12700">
            <a:solidFill>
              <a:srgbClr val="DDF2E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31520" y="5541264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221" y="5661965"/>
            <a:ext cx="307238" cy="307238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1463040" y="5440680"/>
            <a:ext cx="99971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50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사람이 한 일은 </a:t>
            </a:r>
            <a:pPr indent="0" marL="0">
              <a:buNone/>
            </a:pPr>
            <a:r>
              <a:rPr lang="ko-KR" altLang="en-US" sz="1550" b="1" dirty="0">
                <a:solidFill>
                  <a:srgbClr val="23905A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부탁 한 번, 승인 두 번</a:t>
            </a:r>
            <a:pPr indent="0" marL="0">
              <a:buNone/>
            </a:pPr>
            <a:r>
              <a:rPr lang="ko-KR" altLang="en-US" sz="1550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이 전부였습니다. 나머지는 AI 조수가 이어서 했습니다.</a:t>
            </a:r>
            <a:endParaRPr lang="ko-KR" alt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spc="100" kern="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4 · 실제로 돌려 본 사례</a:t>
            </a:r>
            <a:endParaRPr lang="ko-KR" alt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0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결과: 강도는 지키면서 31% 더 가벼워졌습니다</a:t>
            </a:r>
            <a:endParaRPr lang="ko-KR" alt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720840" cy="4343400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7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모양이 이렇게 바뀌었어요</a:t>
            </a:r>
            <a:endParaRPr lang="ko-KR" alt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86000"/>
            <a:ext cx="2971800" cy="1578769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2286000"/>
            <a:ext cx="2971800" cy="157876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3910489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처음 설계</a:t>
            </a:r>
            <a:endParaRPr lang="ko-KR" altLang="en-US" sz="1250" dirty="0"/>
          </a:p>
          <a:p>
            <a:pPr indent="0" marL="0">
              <a:buNone/>
            </a:pPr>
            <a:r>
              <a:rPr lang="ko-KR" altLang="en-US" sz="12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두께 10 mm · 리브 25 mm</a:t>
            </a:r>
            <a:endParaRPr lang="ko-KR" alt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023360" y="3910489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C7882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AI가 찾은 설계</a:t>
            </a:r>
            <a:endParaRPr lang="ko-KR" altLang="en-US" sz="1250" dirty="0"/>
          </a:p>
          <a:p>
            <a:pPr indent="0" marL="0">
              <a:buNone/>
            </a:pPr>
            <a:r>
              <a:rPr lang="ko-KR" altLang="en-US" sz="12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두께 6 mm · 리브 26 mm</a:t>
            </a:r>
            <a:endParaRPr lang="ko-KR" alt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822960" y="46177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색: 힘을 받는 정도</a:t>
            </a:r>
            <a:endParaRPr lang="ko-KR" alt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2286000" y="46177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적게</a:t>
            </a:r>
            <a:endParaRPr lang="ko-KR" alt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480" y="4663440"/>
            <a:ext cx="1645920" cy="1554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434840" y="46177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많이</a:t>
            </a:r>
            <a:endParaRPr lang="ko-KR" alt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822960" y="5074920"/>
            <a:ext cx="6172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ko-KR" altLang="en-US" sz="1350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판은 얇게, 갈비뼈(리브)는 조금 높게. 사람이 직관으로 정하기 어려운 조합을 실험으로 찾았습니다.</a:t>
            </a:r>
            <a:endParaRPr lang="ko-KR" alt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7543800" y="1600200"/>
            <a:ext cx="4099255" cy="4343400"/>
          </a:xfrm>
          <a:prstGeom prst="roundRect">
            <a:avLst>
              <a:gd name="adj" fmla="val 3123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7818120" y="173736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5400" b="1" dirty="0">
                <a:solidFill>
                  <a:srgbClr val="0C7882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31%</a:t>
            </a:r>
            <a:endParaRPr lang="ko-KR" altLang="en-US" sz="5400" dirty="0"/>
          </a:p>
        </p:txBody>
      </p:sp>
      <p:sp>
        <p:nvSpPr>
          <p:cNvPr id="17" name="Text 12"/>
          <p:cNvSpPr/>
          <p:nvPr/>
        </p:nvSpPr>
        <p:spPr>
          <a:xfrm>
            <a:off x="9692640" y="21214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60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더 가벼워짐</a:t>
            </a:r>
            <a:endParaRPr lang="ko-KR" altLang="en-US" sz="16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7680960" y="2606040"/>
          <a:ext cx="3824935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4224528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183880" y="4206240"/>
            <a:ext cx="3276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강도 기준 지킴: 응력 250 MPa 이하</a:t>
            </a:r>
            <a:endParaRPr lang="ko-KR" altLang="en-US" sz="13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0" y="4590288"/>
            <a:ext cx="256032" cy="25603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183880" y="4572000"/>
            <a:ext cx="3276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치수를 바꾸면 3D로 바로 예측</a:t>
            </a:r>
            <a:endParaRPr lang="ko-KR" altLang="en-US" sz="13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0" y="4956048"/>
            <a:ext cx="256032" cy="25603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8183880" y="4937760"/>
            <a:ext cx="3276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보고서까지 자동 작성</a:t>
            </a:r>
            <a:endParaRPr lang="ko-KR" altLang="en-US" sz="1300" dirty="0"/>
          </a:p>
        </p:txBody>
      </p:sp>
      <p:sp>
        <p:nvSpPr>
          <p:cNvPr id="25" name="Text 16"/>
          <p:cNvSpPr/>
          <p:nvPr/>
        </p:nvSpPr>
        <p:spPr>
          <a:xfrm>
            <a:off x="548640" y="6080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연습용 계산 모델(데모)로 돌린 결과입니다. 실제 회사 해석 프로그램으로 확인하는 일은 사내에서 진행합니다.</a:t>
            </a:r>
            <a:endParaRPr lang="ko-KR" alt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spc="100" kern="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5 · 이런 일도 말로 부탁할 수 있어요</a:t>
            </a:r>
            <a:endParaRPr lang="ko-KR" alt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0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회사에서 쓰는 설계·해석 프로그램 29종을 다룹니다</a:t>
            </a:r>
            <a:endParaRPr lang="ko-KR" alt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아래는 부탁 예시입니다. 프로그램마다 “다루는 법”(스킬)을 AI 조수에게 미리 가르쳐 두었습니다.</a:t>
            </a:r>
            <a:endParaRPr lang="ko-KR" alt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10048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48840"/>
            <a:ext cx="731520" cy="731520"/>
          </a:xfrm>
          <a:prstGeom prst="ellipse">
            <a:avLst/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2309774"/>
            <a:ext cx="409651" cy="4096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148840"/>
            <a:ext cx="3901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65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“범퍼 두께를 세 가지로 바꿔 충돌 해석하고, 찌그러짐을 비교해 줘”</a:t>
            </a:r>
            <a:endParaRPr lang="ko-KR" alt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783080" y="2971800"/>
            <a:ext cx="390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충돌 해석 · LS-DYNA</a:t>
            </a:r>
            <a:endParaRPr lang="ko-KR" alt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33008" y="1874520"/>
            <a:ext cx="5410048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07328" y="2148840"/>
            <a:ext cx="731520" cy="731520"/>
          </a:xfrm>
          <a:prstGeom prst="ellipse">
            <a:avLst/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8262" y="2309774"/>
            <a:ext cx="409651" cy="4096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67448" y="2148840"/>
            <a:ext cx="3901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65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“칩 온도가 85도를 넘지 않는 가장 작은 방열판을 찾아 줘”</a:t>
            </a:r>
            <a:endParaRPr lang="ko-KR" alt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7467448" y="2971800"/>
            <a:ext cx="390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열 해석 · Celsius, Flotherm</a:t>
            </a:r>
            <a:endParaRPr lang="ko-KR" alt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3749040"/>
            <a:ext cx="5410048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4023360"/>
            <a:ext cx="731520" cy="731520"/>
          </a:xfrm>
          <a:prstGeom prst="ellipse">
            <a:avLst/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94" y="4184294"/>
            <a:ext cx="409651" cy="4096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83080" y="4023360"/>
            <a:ext cx="3901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65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“LED 빛이 화면에 고르게 퍼지도록 렌즈 모양을 바꿔 봐 줘”</a:t>
            </a:r>
            <a:endParaRPr lang="ko-KR" alt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1783080" y="4846320"/>
            <a:ext cx="390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빛 해석 · LightTools</a:t>
            </a:r>
            <a:endParaRPr lang="ko-KR" alt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233008" y="3749040"/>
            <a:ext cx="5410048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07328" y="4023360"/>
            <a:ext cx="731520" cy="731520"/>
          </a:xfrm>
          <a:prstGeom prst="ellipse">
            <a:avLst/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8262" y="4184294"/>
            <a:ext cx="409651" cy="40965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67448" y="4023360"/>
            <a:ext cx="3901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65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“플라스틱 부품이 가장 덜 휘는 주입구 위치를 찾아 줘”</a:t>
            </a:r>
            <a:endParaRPr lang="ko-KR" altLang="en-US" sz="1650" dirty="0"/>
          </a:p>
        </p:txBody>
      </p:sp>
      <p:sp>
        <p:nvSpPr>
          <p:cNvPr id="24" name="Text 18"/>
          <p:cNvSpPr/>
          <p:nvPr/>
        </p:nvSpPr>
        <p:spPr>
          <a:xfrm>
            <a:off x="7467448" y="4846320"/>
            <a:ext cx="390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사출 성형 · Moldflow, Moldex3D</a:t>
            </a:r>
            <a:endParaRPr lang="ko-KR" alt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715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0C7882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지원 분야  </a:t>
            </a:r>
            <a:pPr indent="0" marL="0">
              <a:buNone/>
            </a:pPr>
            <a:r>
              <a:rPr lang="ko-KR" altLang="en-US" sz="130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CAD · 전처리 · 구조 · 충돌 · 유동·열 · 다중물리 · 전자기 · 다물체 · 사출 · 1D 시스템 · 피로 · 광학 · 설계 최적화 · AI 예측</a:t>
            </a:r>
            <a:endParaRPr lang="ko-KR" alt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spc="100" kern="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6 · 무엇이 달라지나</a:t>
            </a:r>
            <a:endParaRPr lang="ko-KR" alt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0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전문가 몇 명의 일에서, 누구나 하는 일로</a:t>
            </a:r>
            <a:endParaRPr lang="ko-KR" alt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480560"/>
                <a:gridCol w="4785055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alt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586A75"/>
                          </a:solidFill>
                          <a:latin typeface="Malgun Gothic" pitchFamily="34" charset="0"/>
                          <a:ea typeface="Malgun Gothic" pitchFamily="34" charset="-127"/>
                          <a:cs typeface="Malgun Gothic" pitchFamily="34" charset="-120"/>
                        </a:rPr>
                        <a:t>지금</a:t>
                      </a:r>
                      <a:endParaRPr lang="ko-KR" alt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0C7882"/>
                          </a:solidFill>
                          <a:latin typeface="Malgun Gothic" pitchFamily="34" charset="0"/>
                          <a:ea typeface="Malgun Gothic" pitchFamily="34" charset="-127"/>
                          <a:cs typeface="Malgun Gothic" pitchFamily="34" charset="-120"/>
                        </a:rPr>
                        <a:t>DDS AI Engineer</a:t>
                      </a:r>
                      <a:endParaRPr lang="ko-KR" alt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F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600" b="1" dirty="0">
                          <a:solidFill>
                            <a:srgbClr val="586A75"/>
                          </a:solidFill>
                          <a:latin typeface="Malgun Gothic" pitchFamily="34" charset="0"/>
                          <a:ea typeface="Malgun Gothic" pitchFamily="34" charset="-127"/>
                          <a:cs typeface="Malgun Gothic" pitchFamily="34" charset="-120"/>
                        </a:rPr>
                        <a:t>누가</a:t>
                      </a:r>
                      <a:endParaRPr lang="ko-KR" alt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77240" marR="182880" marT="0" marB="0" anchor="ctr">
                    <a:lnL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600" dirty="0">
                          <a:solidFill>
                            <a:srgbClr val="15232D"/>
                          </a:solidFill>
                          <a:latin typeface="Malgun Gothic" pitchFamily="34" charset="0"/>
                          <a:ea typeface="Malgun Gothic" pitchFamily="34" charset="-127"/>
                          <a:cs typeface="Malgun Gothic" pitchFamily="34" charset="-120"/>
                        </a:rPr>
                        <a:t>스크립트를 짤 줄 아는 일부 전문가</a:t>
                      </a:r>
                      <a:endParaRPr lang="ko-KR" alt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600" b="1" dirty="0">
                          <a:solidFill>
                            <a:srgbClr val="15232D"/>
                          </a:solidFill>
                          <a:latin typeface="Malgun Gothic" pitchFamily="34" charset="0"/>
                          <a:ea typeface="Malgun Gothic" pitchFamily="34" charset="-127"/>
                          <a:cs typeface="Malgun Gothic" pitchFamily="34" charset="-120"/>
                        </a:rPr>
                        <a:t>설계 엔지니어 누구나</a:t>
                      </a:r>
                      <a:endParaRPr lang="ko-KR" alt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600" b="1" dirty="0">
                          <a:solidFill>
                            <a:srgbClr val="586A75"/>
                          </a:solidFill>
                          <a:latin typeface="Malgun Gothic" pitchFamily="34" charset="0"/>
                          <a:ea typeface="Malgun Gothic" pitchFamily="34" charset="-127"/>
                          <a:cs typeface="Malgun Gothic" pitchFamily="34" charset="-120"/>
                        </a:rPr>
                        <a:t>어떻게</a:t>
                      </a:r>
                      <a:endParaRPr lang="ko-KR" alt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77240" marR="182880" marT="0" marB="0" anchor="ctr">
                    <a:lnL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600" dirty="0">
                          <a:solidFill>
                            <a:srgbClr val="15232D"/>
                          </a:solidFill>
                          <a:latin typeface="Malgun Gothic" pitchFamily="34" charset="0"/>
                          <a:ea typeface="Malgun Gothic" pitchFamily="34" charset="-127"/>
                          <a:cs typeface="Malgun Gothic" pitchFamily="34" charset="-120"/>
                        </a:rPr>
                        <a:t>프로그램마다 손으로 클릭, 명령문 작성</a:t>
                      </a:r>
                      <a:endParaRPr lang="ko-KR" alt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600" b="1" dirty="0">
                          <a:solidFill>
                            <a:srgbClr val="15232D"/>
                          </a:solidFill>
                          <a:latin typeface="Malgun Gothic" pitchFamily="34" charset="0"/>
                          <a:ea typeface="Malgun Gothic" pitchFamily="34" charset="-127"/>
                          <a:cs typeface="Malgun Gothic" pitchFamily="34" charset="-120"/>
                        </a:rPr>
                        <a:t>평소 말로 부탁</a:t>
                      </a:r>
                      <a:endParaRPr lang="ko-KR" alt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600" b="1" dirty="0">
                          <a:solidFill>
                            <a:srgbClr val="586A75"/>
                          </a:solidFill>
                          <a:latin typeface="Malgun Gothic" pitchFamily="34" charset="0"/>
                          <a:ea typeface="Malgun Gothic" pitchFamily="34" charset="-127"/>
                          <a:cs typeface="Malgun Gothic" pitchFamily="34" charset="-120"/>
                        </a:rPr>
                        <a:t>몇 번</a:t>
                      </a:r>
                      <a:endParaRPr lang="ko-KR" alt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77240" marR="182880" marT="0" marB="0" anchor="ctr">
                    <a:lnL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600" dirty="0">
                          <a:solidFill>
                            <a:srgbClr val="15232D"/>
                          </a:solidFill>
                          <a:latin typeface="Malgun Gothic" pitchFamily="34" charset="0"/>
                          <a:ea typeface="Malgun Gothic" pitchFamily="34" charset="-127"/>
                          <a:cs typeface="Malgun Gothic" pitchFamily="34" charset="-120"/>
                        </a:rPr>
                        <a:t>시간이 없어 설계안 몇 개만</a:t>
                      </a:r>
                      <a:endParaRPr lang="ko-KR" alt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600" b="1" dirty="0">
                          <a:solidFill>
                            <a:srgbClr val="15232D"/>
                          </a:solidFill>
                          <a:latin typeface="Malgun Gothic" pitchFamily="34" charset="0"/>
                          <a:ea typeface="Malgun Gothic" pitchFamily="34" charset="-127"/>
                          <a:cs typeface="Malgun Gothic" pitchFamily="34" charset="-120"/>
                        </a:rPr>
                        <a:t>수십 번 자동 실험, 밤에도</a:t>
                      </a:r>
                      <a:endParaRPr lang="ko-KR" alt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600" b="1" dirty="0">
                          <a:solidFill>
                            <a:srgbClr val="586A75"/>
                          </a:solidFill>
                          <a:latin typeface="Malgun Gothic" pitchFamily="34" charset="0"/>
                          <a:ea typeface="Malgun Gothic" pitchFamily="34" charset="-127"/>
                          <a:cs typeface="Malgun Gothic" pitchFamily="34" charset="-120"/>
                        </a:rPr>
                        <a:t>결과</a:t>
                      </a:r>
                      <a:endParaRPr lang="ko-KR" alt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77240" marR="182880" marT="0" marB="0" anchor="ctr">
                    <a:lnL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600" dirty="0">
                          <a:solidFill>
                            <a:srgbClr val="15232D"/>
                          </a:solidFill>
                          <a:latin typeface="Malgun Gothic" pitchFamily="34" charset="0"/>
                          <a:ea typeface="Malgun Gothic" pitchFamily="34" charset="-127"/>
                          <a:cs typeface="Malgun Gothic" pitchFamily="34" charset="-120"/>
                        </a:rPr>
                        <a:t>개인 PC와 엑셀에 흩어짐</a:t>
                      </a:r>
                      <a:endParaRPr lang="ko-KR" alt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600" b="1" dirty="0">
                          <a:solidFill>
                            <a:srgbClr val="15232D"/>
                          </a:solidFill>
                          <a:latin typeface="Malgun Gothic" pitchFamily="34" charset="0"/>
                          <a:ea typeface="Malgun Gothic" pitchFamily="34" charset="-127"/>
                          <a:cs typeface="Malgun Gothic" pitchFamily="34" charset="-120"/>
                        </a:rPr>
                        <a:t>한 곳에 쌓여 다음 설계에 다시 씀</a:t>
                      </a:r>
                      <a:endParaRPr lang="ko-KR" alt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600" b="1" dirty="0">
                          <a:solidFill>
                            <a:srgbClr val="586A75"/>
                          </a:solidFill>
                          <a:latin typeface="Malgun Gothic" pitchFamily="34" charset="0"/>
                          <a:ea typeface="Malgun Gothic" pitchFamily="34" charset="-127"/>
                          <a:cs typeface="Malgun Gothic" pitchFamily="34" charset="-120"/>
                        </a:rPr>
                        <a:t>보고</a:t>
                      </a:r>
                      <a:endParaRPr lang="ko-KR" alt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77240" marR="182880" marT="0" marB="0" anchor="ctr">
                    <a:lnL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600" dirty="0">
                          <a:solidFill>
                            <a:srgbClr val="15232D"/>
                          </a:solidFill>
                          <a:latin typeface="Malgun Gothic" pitchFamily="34" charset="0"/>
                          <a:ea typeface="Malgun Gothic" pitchFamily="34" charset="-127"/>
                          <a:cs typeface="Malgun Gothic" pitchFamily="34" charset="-120"/>
                        </a:rPr>
                        <a:t>그래프·보고서를 손으로</a:t>
                      </a:r>
                      <a:endParaRPr lang="ko-KR" alt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600" b="1" dirty="0">
                          <a:solidFill>
                            <a:srgbClr val="15232D"/>
                          </a:solidFill>
                          <a:latin typeface="Malgun Gothic" pitchFamily="34" charset="0"/>
                          <a:ea typeface="Malgun Gothic" pitchFamily="34" charset="-127"/>
                          <a:cs typeface="Malgun Gothic" pitchFamily="34" charset="-120"/>
                        </a:rPr>
                        <a:t>그래프·3D·보고서 자동</a:t>
                      </a:r>
                      <a:endParaRPr lang="ko-KR" alt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450592"/>
            <a:ext cx="365760" cy="36576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08960"/>
            <a:ext cx="365760" cy="36576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767328"/>
            <a:ext cx="365760" cy="365760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425696"/>
            <a:ext cx="365760" cy="365760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084064"/>
            <a:ext cx="365760" cy="365760"/>
          </a:xfrm>
          <a:prstGeom prst="rect">
            <a:avLst/>
          </a:prstGeom>
        </p:spPr>
      </p:pic>
      <p:sp>
        <p:nvSpPr>
          <p:cNvPr id="10" name="Shape 2"/>
          <p:cNvSpPr/>
          <p:nvPr/>
        </p:nvSpPr>
        <p:spPr>
          <a:xfrm>
            <a:off x="548640" y="5833872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DFF1F2"/>
          </a:solidFill>
          <a:ln w="12700">
            <a:solidFill>
              <a:srgbClr val="DFF1F2"/>
            </a:solidFill>
            <a:prstDash val="solid"/>
          </a:ln>
        </p:spPr>
      </p:sp>
      <p:sp>
        <p:nvSpPr>
          <p:cNvPr id="11" name="Text 3"/>
          <p:cNvSpPr/>
          <p:nvPr/>
        </p:nvSpPr>
        <p:spPr>
          <a:xfrm>
            <a:off x="822960" y="583387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0C7882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핵심  </a:t>
            </a:r>
            <a:pPr indent="0" marL="0">
              <a:buNone/>
            </a:pPr>
            <a:r>
              <a:rPr lang="ko-KR" altLang="en-US" sz="1500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설계 실력은 사람에게, 반복 작업은 AI에게. 엔지니어는 더 많은 설계안을 더 빨리 비교합니다.</a:t>
            </a:r>
            <a:endParaRPr lang="ko-KR" alt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spc="100" kern="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7 · 안심하고 쓸 수 있게</a:t>
            </a:r>
            <a:endParaRPr lang="ko-KR" alt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0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AI가 혼자 결정하지 않고, 설계 자료는 회사 안에 둡니다</a:t>
            </a:r>
            <a:endParaRPr lang="ko-KR" alt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6400800" cy="3611880"/>
          </a:xfrm>
          <a:prstGeom prst="roundRect">
            <a:avLst>
              <a:gd name="adj" fmla="val 6329"/>
            </a:avLst>
          </a:prstGeom>
          <a:ln w="25400">
            <a:solidFill>
              <a:srgbClr val="0C788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822960" y="1691640"/>
            <a:ext cx="1783080" cy="365760"/>
          </a:xfrm>
          <a:prstGeom prst="rect">
            <a:avLst/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91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400" b="1" dirty="0">
                <a:solidFill>
                  <a:srgbClr val="0C7882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회사 안 (사내망)</a:t>
            </a:r>
            <a:endParaRPr lang="ko-KR" alt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1691640" cy="182880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46888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0632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웹 화면</a:t>
            </a:r>
            <a:endParaRPr lang="ko-KR" alt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32688" y="3383280"/>
            <a:ext cx="1472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ko-KR" altLang="en-US" sz="11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대화·결과·3D 보기</a:t>
            </a:r>
            <a:endParaRPr lang="ko-KR" alt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480310" y="3063240"/>
            <a:ext cx="457200" cy="274320"/>
          </a:xfrm>
          <a:prstGeom prst="leftRightArrow">
            <a:avLst/>
          </a:prstGeom>
          <a:solidFill>
            <a:srgbClr val="C3CFD5"/>
          </a:solidFill>
          <a:ln w="12700">
            <a:solidFill>
              <a:srgbClr val="C3CFD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03220" y="2286000"/>
            <a:ext cx="1691640" cy="182880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580" y="246888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94660" y="30632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회사 서버</a:t>
            </a:r>
            <a:endParaRPr lang="ko-KR" alt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012948" y="3383280"/>
            <a:ext cx="1472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ko-KR" altLang="en-US" sz="11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결과 보관·학습·보고서</a:t>
            </a:r>
            <a:endParaRPr lang="ko-KR" alt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60570" y="3063240"/>
            <a:ext cx="457200" cy="274320"/>
          </a:xfrm>
          <a:prstGeom prst="leftRightArrow">
            <a:avLst/>
          </a:prstGeom>
          <a:solidFill>
            <a:srgbClr val="C3CFD5"/>
          </a:solidFill>
          <a:ln w="12700">
            <a:solidFill>
              <a:srgbClr val="C3CFD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83480" y="2286000"/>
            <a:ext cx="1691640" cy="182880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246888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74920" y="30632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내 PC 도우미</a:t>
            </a:r>
            <a:endParaRPr lang="ko-KR" alt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093208" y="3383280"/>
            <a:ext cx="1472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ko-KR" altLang="en-US" sz="11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설계 프로그램 실행, 원본 파일 보관</a:t>
            </a:r>
            <a:endParaRPr lang="ko-KR" alt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822960" y="44348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1" y="4555541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08760" y="443484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AI와의 대화는 회사가 허용한 AI 계정(Gemini·Claude 등)으로만 합니다.</a:t>
            </a:r>
            <a:endParaRPr lang="ko-KR" alt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7315200" y="178308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DDF2E5"/>
          </a:solidFill>
          <a:ln w="12700">
            <a:solidFill>
              <a:srgbClr val="DDF2E5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4928" y="1892808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046720" y="1764792"/>
            <a:ext cx="3596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사람이 먼저 승인</a:t>
            </a:r>
            <a:endParaRPr lang="ko-KR" alt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8046720" y="2093976"/>
            <a:ext cx="3596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계획표를 보고 OK해야 시작하고, 내 PC에서 실행하기 전에 한 번 더 묻습니다.</a:t>
            </a:r>
            <a:endParaRPr lang="ko-KR" alt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7315200" y="2807208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DDF2E5"/>
          </a:solidFill>
          <a:ln w="12700">
            <a:solidFill>
              <a:srgbClr val="DDF2E5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4928" y="2916936"/>
            <a:ext cx="329184" cy="32918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8046720" y="2788920"/>
            <a:ext cx="3596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설계 자료는 회사 안에</a:t>
            </a:r>
            <a:endParaRPr lang="ko-KR" altLang="en-US" sz="1600" dirty="0"/>
          </a:p>
        </p:txBody>
      </p:sp>
      <p:sp>
        <p:nvSpPr>
          <p:cNvPr id="31" name="Text 23"/>
          <p:cNvSpPr/>
          <p:nvPr/>
        </p:nvSpPr>
        <p:spPr>
          <a:xfrm>
            <a:off x="8046720" y="3118104"/>
            <a:ext cx="3596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큰 원본 파일은 내 PC에, 숫자 결과와 그림은 회사 서버에 저장합니다.</a:t>
            </a:r>
            <a:endParaRPr lang="ko-KR" altLang="en-US" sz="1250" dirty="0"/>
          </a:p>
        </p:txBody>
      </p:sp>
      <p:sp>
        <p:nvSpPr>
          <p:cNvPr id="32" name="Shape 24"/>
          <p:cNvSpPr/>
          <p:nvPr/>
        </p:nvSpPr>
        <p:spPr>
          <a:xfrm>
            <a:off x="7315200" y="3831336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DDF2E5"/>
          </a:solidFill>
          <a:ln w="12700">
            <a:solidFill>
              <a:srgbClr val="DDF2E5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4928" y="3941064"/>
            <a:ext cx="329184" cy="32918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046720" y="3813048"/>
            <a:ext cx="3596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팀 단위로 공유</a:t>
            </a:r>
            <a:endParaRPr lang="ko-KR" altLang="en-US" sz="1600" dirty="0"/>
          </a:p>
        </p:txBody>
      </p:sp>
      <p:sp>
        <p:nvSpPr>
          <p:cNvPr id="35" name="Text 26"/>
          <p:cNvSpPr/>
          <p:nvPr/>
        </p:nvSpPr>
        <p:spPr>
          <a:xfrm>
            <a:off x="8046720" y="4142232"/>
            <a:ext cx="3596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프로젝트 멤버만 보고, 가입은 관리자가 승인합니다.</a:t>
            </a:r>
            <a:endParaRPr lang="ko-KR" altLang="en-US" sz="1250" dirty="0"/>
          </a:p>
        </p:txBody>
      </p:sp>
      <p:sp>
        <p:nvSpPr>
          <p:cNvPr id="36" name="Shape 27"/>
          <p:cNvSpPr/>
          <p:nvPr/>
        </p:nvSpPr>
        <p:spPr>
          <a:xfrm>
            <a:off x="7315200" y="4855464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DDF2E5"/>
          </a:solidFill>
          <a:ln w="12700">
            <a:solidFill>
              <a:srgbClr val="DDF2E5"/>
            </a:solidFill>
            <a:prstDash val="solid"/>
          </a:ln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4928" y="4965192"/>
            <a:ext cx="329184" cy="329184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8046720" y="4837176"/>
            <a:ext cx="3596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결과는 사람이 확인</a:t>
            </a:r>
            <a:endParaRPr lang="ko-KR" altLang="en-US" sz="1600" dirty="0"/>
          </a:p>
        </p:txBody>
      </p:sp>
      <p:sp>
        <p:nvSpPr>
          <p:cNvPr id="39" name="Text 29"/>
          <p:cNvSpPr/>
          <p:nvPr/>
        </p:nvSpPr>
        <p:spPr>
          <a:xfrm>
            <a:off x="8046720" y="5166360"/>
            <a:ext cx="3596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처음엔 작은 모델로 시험하고, 중요한 결정은 엔지니어가 내립니다.</a:t>
            </a:r>
            <a:endParaRPr lang="ko-KR" alt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spc="100" kern="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8 · 지금 어디까지 왔나</a:t>
            </a:r>
            <a:endParaRPr lang="ko-KR" alt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0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만들기는 끝났고, 회사 프로그램으로 확인할 차례입니다</a:t>
            </a:r>
            <a:endParaRPr lang="ko-KR" alt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63040" y="2148840"/>
            <a:ext cx="2316404" cy="0"/>
          </a:xfrm>
          <a:prstGeom prst="line">
            <a:avLst/>
          </a:prstGeom>
          <a:noFill/>
          <a:ln w="50800">
            <a:solidFill>
              <a:srgbClr val="0C78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79444" y="2148840"/>
            <a:ext cx="6949211" cy="0"/>
          </a:xfrm>
          <a:prstGeom prst="line">
            <a:avLst/>
          </a:prstGeom>
          <a:noFill/>
          <a:ln w="50800">
            <a:solidFill>
              <a:srgbClr val="D7E1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79576" y="1865376"/>
            <a:ext cx="566928" cy="566928"/>
          </a:xfrm>
          <a:prstGeom prst="ellipse">
            <a:avLst/>
          </a:prstGeom>
          <a:solidFill>
            <a:srgbClr val="0C7882"/>
          </a:solidFill>
          <a:ln w="38100">
            <a:solidFill>
              <a:srgbClr val="0C788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592" y="199339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265176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만들기</a:t>
            </a:r>
            <a:endParaRPr lang="ko-KR" alt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65760" y="2971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웹 화면·AI 조수·</a:t>
            </a:r>
            <a:endParaRPr lang="ko-KR" altLang="en-US" sz="1150" dirty="0"/>
          </a:p>
          <a:p>
            <a:pPr algn="ctr" indent="0" marL="0">
              <a:buNone/>
            </a:pPr>
            <a:r>
              <a:rPr lang="ko-KR" altLang="en-US" sz="11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설치 프로그램</a:t>
            </a:r>
            <a:endParaRPr lang="ko-KR" alt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6252" y="1755648"/>
            <a:ext cx="786384" cy="786384"/>
          </a:xfrm>
          <a:prstGeom prst="ellipse">
            <a:avLst/>
          </a:prstGeom>
          <a:solidFill>
            <a:srgbClr val="FCEADB"/>
          </a:solidFill>
          <a:ln w="12700">
            <a:solidFill>
              <a:srgbClr val="FCEAD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95980" y="1865376"/>
            <a:ext cx="566928" cy="56692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9671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95980" y="18653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700" b="1" dirty="0">
                <a:solidFill>
                  <a:srgbClr val="D9671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2</a:t>
            </a:r>
            <a:endParaRPr lang="ko-KR" alt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2682164" y="265176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rgbClr val="D9671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회사 서버 설치</a:t>
            </a:r>
            <a:endParaRPr lang="ko-KR" alt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682164" y="2971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준비 스크립트</a:t>
            </a:r>
            <a:endParaRPr lang="ko-KR" altLang="en-US" sz="1150" dirty="0"/>
          </a:p>
          <a:p>
            <a:pPr algn="ctr" indent="0" marL="0">
              <a:buNone/>
            </a:pPr>
            <a:r>
              <a:rPr lang="ko-KR" altLang="en-US" sz="11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1개로 설치</a:t>
            </a:r>
            <a:endParaRPr lang="ko-KR" alt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812384" y="1865376"/>
            <a:ext cx="566928" cy="56692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7E1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12384" y="18653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700" b="1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3</a:t>
            </a:r>
            <a:endParaRPr lang="ko-KR" alt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998568" y="265176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실제 프로그램 확인</a:t>
            </a:r>
            <a:endParaRPr lang="ko-KR" alt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998568" y="2971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라이선스 PC에서</a:t>
            </a:r>
            <a:endParaRPr lang="ko-KR" altLang="en-US" sz="1150" dirty="0"/>
          </a:p>
          <a:p>
            <a:pPr algn="ctr" indent="0" marL="0">
              <a:buNone/>
            </a:pPr>
            <a:r>
              <a:rPr lang="ko-KR" altLang="en-US" sz="11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작은 모델로</a:t>
            </a:r>
            <a:endParaRPr lang="ko-KR" alt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128787" y="1865376"/>
            <a:ext cx="566928" cy="56692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7E1E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28787" y="18653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700" b="1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4</a:t>
            </a:r>
            <a:endParaRPr lang="ko-KR" alt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7314971" y="265176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시범 운영</a:t>
            </a:r>
            <a:endParaRPr lang="ko-KR" alt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314971" y="2971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1~2개 팀,</a:t>
            </a:r>
            <a:endParaRPr lang="ko-KR" altLang="en-US" sz="1150" dirty="0"/>
          </a:p>
          <a:p>
            <a:pPr algn="ctr" indent="0" marL="0">
              <a:buNone/>
            </a:pPr>
            <a:r>
              <a:rPr lang="ko-KR" altLang="en-US" sz="11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자주 쓰는 프로그램부터</a:t>
            </a:r>
            <a:endParaRPr lang="ko-KR" alt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0445191" y="1865376"/>
            <a:ext cx="566928" cy="56692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7E1E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445191" y="18653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700" b="1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5</a:t>
            </a:r>
            <a:endParaRPr lang="ko-KR" alt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9631375" y="265176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전사 확대</a:t>
            </a:r>
            <a:endParaRPr lang="ko-KR" alt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9631375" y="2971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사내 표준</a:t>
            </a:r>
            <a:endParaRPr lang="ko-KR" altLang="en-US" sz="1150" dirty="0"/>
          </a:p>
          <a:p>
            <a:pPr algn="ctr" indent="0" marL="0">
              <a:buNone/>
            </a:pPr>
            <a:r>
              <a:rPr lang="ko-KR" altLang="en-US" sz="11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해석 방식 반영</a:t>
            </a:r>
            <a:endParaRPr lang="ko-KR" alt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3230804" y="13716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50" b="1" dirty="0">
                <a:solidFill>
                  <a:srgbClr val="D9671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지금 여기</a:t>
            </a:r>
            <a:endParaRPr lang="ko-KR" alt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48640" y="3794760"/>
            <a:ext cx="3515258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822960" y="3995928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600" b="1" dirty="0">
                <a:solidFill>
                  <a:srgbClr val="0C7882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29종</a:t>
            </a:r>
            <a:endParaRPr lang="ko-KR" altLang="en-US" sz="3600" dirty="0"/>
          </a:p>
        </p:txBody>
      </p:sp>
      <p:sp>
        <p:nvSpPr>
          <p:cNvPr id="30" name="Text 27"/>
          <p:cNvSpPr/>
          <p:nvPr/>
        </p:nvSpPr>
        <p:spPr>
          <a:xfrm>
            <a:off x="822960" y="4690872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연결 준비가 끝난 설계·해석 프로그램 (CAD, 구조, 충돌, 유동·열, 전자기, 광학, 사출 등)</a:t>
            </a:r>
            <a:endParaRPr lang="ko-KR" alt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4338218" y="3794760"/>
            <a:ext cx="3515258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4612538" y="3995928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600" b="1" dirty="0">
                <a:solidFill>
                  <a:srgbClr val="0C7882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6단계</a:t>
            </a:r>
            <a:endParaRPr lang="ko-KR" altLang="en-US" sz="3600" dirty="0"/>
          </a:p>
        </p:txBody>
      </p:sp>
      <p:sp>
        <p:nvSpPr>
          <p:cNvPr id="33" name="Text 30"/>
          <p:cNvSpPr/>
          <p:nvPr/>
        </p:nvSpPr>
        <p:spPr>
          <a:xfrm>
            <a:off x="4612538" y="4690872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부탁부터 보고서까지 한 화면에서 이어지는 흐름 (실험·예측·최적화·3D·보고서)</a:t>
            </a:r>
            <a:endParaRPr lang="ko-KR" alt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8127797" y="3794760"/>
            <a:ext cx="3515258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8402117" y="3995928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600" b="1" dirty="0">
                <a:solidFill>
                  <a:srgbClr val="0C7882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설치 1번</a:t>
            </a:r>
            <a:endParaRPr lang="ko-KR" altLang="en-US" sz="3600" dirty="0"/>
          </a:p>
        </p:txBody>
      </p:sp>
      <p:sp>
        <p:nvSpPr>
          <p:cNvPr id="36" name="Text 33"/>
          <p:cNvSpPr/>
          <p:nvPr/>
        </p:nvSpPr>
        <p:spPr>
          <a:xfrm>
            <a:off x="8402117" y="4690872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각자 PC에 도우미를 설치하면 프로그램 위치를 스스로 찾고 업데이트도 자동</a:t>
            </a:r>
            <a:endParaRPr lang="ko-KR" alt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548640" y="57607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아직 확인하지 못한 것: 집 PC에는 회사 프로그램 라이선스가 없어, 실제 프로그램과의 연결은 사내에서 처음 확인합니다.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2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spc="100" kern="0" dirty="0">
                <a:solidFill>
                  <a:srgbClr val="9DB0BA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9 · 부탁드리는 것</a:t>
            </a:r>
            <a:endParaRPr lang="ko-KR" alt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시범 운영을 위해 세 가지가 필요합니다</a:t>
            </a:r>
            <a:endParaRPr lang="ko-KR" alt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84778" cy="2606040"/>
          </a:xfrm>
          <a:prstGeom prst="roundRect">
            <a:avLst>
              <a:gd name="adj" fmla="val 4912"/>
            </a:avLst>
          </a:prstGeom>
          <a:solidFill>
            <a:srgbClr val="1E3240"/>
          </a:solidFill>
          <a:ln w="12700">
            <a:solidFill>
              <a:srgbClr val="2E47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48840"/>
            <a:ext cx="731520" cy="731520"/>
          </a:xfrm>
          <a:prstGeom prst="ellipse">
            <a:avLst/>
          </a:prstGeom>
          <a:solidFill>
            <a:srgbClr val="3A2516"/>
          </a:solidFill>
          <a:ln w="12700">
            <a:solidFill>
              <a:srgbClr val="3A251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" y="2309774"/>
            <a:ext cx="409651" cy="4096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06324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시범 팀 1~2곳</a:t>
            </a:r>
            <a:endParaRPr lang="ko-KR" alt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3474720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ko-KR" altLang="en-US" sz="1300" dirty="0">
                <a:solidFill>
                  <a:srgbClr val="B8C7CE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반복 해석이 많은 팀을 정해 주시면, 그 팀의 실제 업무로 먼저 확인합니다.</a:t>
            </a:r>
            <a:endParaRPr lang="ko-KR" alt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53458" y="1828800"/>
            <a:ext cx="3484778" cy="2606040"/>
          </a:xfrm>
          <a:prstGeom prst="roundRect">
            <a:avLst>
              <a:gd name="adj" fmla="val 4912"/>
            </a:avLst>
          </a:prstGeom>
          <a:solidFill>
            <a:srgbClr val="1E3240"/>
          </a:solidFill>
          <a:ln w="12700">
            <a:solidFill>
              <a:srgbClr val="2E475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73498" y="2148840"/>
            <a:ext cx="731520" cy="731520"/>
          </a:xfrm>
          <a:prstGeom prst="ellipse">
            <a:avLst/>
          </a:prstGeom>
          <a:solidFill>
            <a:srgbClr val="3A2516"/>
          </a:solidFill>
          <a:ln w="12700">
            <a:solidFill>
              <a:srgbClr val="3A251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433" y="2309774"/>
            <a:ext cx="409651" cy="4096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73498" y="306324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라이선스 있는 PC 사용</a:t>
            </a:r>
            <a:endParaRPr lang="ko-KR" alt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673498" y="3474720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ko-KR" altLang="en-US" sz="1300" dirty="0">
                <a:solidFill>
                  <a:srgbClr val="B8C7CE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실제 설계·해석 프로그램이 설치된 PC에서 확인하고 고칠 시간이 필요합니다.</a:t>
            </a:r>
            <a:endParaRPr lang="ko-KR" alt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58277" y="1828800"/>
            <a:ext cx="3484778" cy="2606040"/>
          </a:xfrm>
          <a:prstGeom prst="roundRect">
            <a:avLst>
              <a:gd name="adj" fmla="val 4912"/>
            </a:avLst>
          </a:prstGeom>
          <a:solidFill>
            <a:srgbClr val="1E3240"/>
          </a:solidFill>
          <a:ln w="12700">
            <a:solidFill>
              <a:srgbClr val="2E475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78317" y="2148840"/>
            <a:ext cx="731520" cy="731520"/>
          </a:xfrm>
          <a:prstGeom prst="ellipse">
            <a:avLst/>
          </a:prstGeom>
          <a:solidFill>
            <a:srgbClr val="3A2516"/>
          </a:solidFill>
          <a:ln w="12700">
            <a:solidFill>
              <a:srgbClr val="3A251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9251" y="2309774"/>
            <a:ext cx="409651" cy="4096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78317" y="306324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사내 서버 1대</a:t>
            </a:r>
            <a:endParaRPr lang="ko-KR" alt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478317" y="3474720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ko-KR" altLang="en-US" sz="1300" dirty="0">
                <a:solidFill>
                  <a:srgbClr val="B8C7CE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웹 화면과 결과를 보관할 서버입니다. 설치는 준비 스크립트로 바로 됩니다.</a:t>
            </a:r>
            <a:endParaRPr lang="ko-KR" alt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48640" y="5029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말로 부탁하면 </a:t>
            </a:r>
            <a:pPr algn="ctr" indent="0" marL="0">
              <a:buNone/>
            </a:pPr>
            <a:r>
              <a:rPr lang="ko-KR" altLang="en-US" sz="3200" b="1" dirty="0">
                <a:solidFill>
                  <a:srgbClr val="45BCC6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실험은 AI가</a:t>
            </a:r>
            <a:pPr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, </a:t>
            </a:r>
            <a:pPr algn="ctr" indent="0" marL="0">
              <a:buNone/>
            </a:pPr>
            <a:r>
              <a:rPr lang="ko-KR" altLang="en-US" sz="3200" b="1" dirty="0">
                <a:solidFill>
                  <a:srgbClr val="F29A5A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판단은 사람이</a:t>
            </a:r>
            <a:pPr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.</a:t>
            </a:r>
            <a:endParaRPr lang="ko-KR" alt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DDS AI Engineer 소개</dc:title>
  <dc:subject>PptxGenJS Presentation</dc:subject>
  <dc:creator>DDS AI Engineer</dc:creator>
  <cp:lastModifiedBy>DDS AI Engineer</cp:lastModifiedBy>
  <cp:revision>1</cp:revision>
  <dcterms:created xsi:type="dcterms:W3CDTF">2026-10-27T23:15:50Z</dcterms:created>
  <dcterms:modified xsi:type="dcterms:W3CDTF">2026-10-27T23:15:50Z</dcterms:modified>
</cp:coreProperties>
</file>